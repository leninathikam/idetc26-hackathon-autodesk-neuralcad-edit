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jF6QTiHbyyKsUgBvhMTMfmg31O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5B307BB-E217-4675-B5CF-17A99FB1EC4B}">
  <a:tblStyle styleId="{F5B307BB-E217-4675-B5CF-17A99FB1EC4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75d711436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g3f75d711436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75d711436_0_1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g3f75d711436_0_1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75d711436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g3f75d711436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7724f6b57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g3f7724f6b57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75d711436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g3f75d711436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7724f6b57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g3f7724f6b57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7724f6b57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g3f7724f6b57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7724f6b57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g3f7724f6b57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75d711436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g3f75d711436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75d711436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g3f75d711436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362622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362622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1385046" y="115144"/>
            <a:ext cx="996875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1385046" y="1711187"/>
            <a:ext cx="9968754" cy="3115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362622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6"/>
          <p:cNvSpPr txBox="1"/>
          <p:nvPr>
            <p:ph idx="1" type="subTitle"/>
          </p:nvPr>
        </p:nvSpPr>
        <p:spPr>
          <a:xfrm>
            <a:off x="1524000" y="1304315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1" name="Google Shape;31;p6"/>
          <p:cNvSpPr txBox="1"/>
          <p:nvPr>
            <p:ph type="title"/>
          </p:nvPr>
        </p:nvSpPr>
        <p:spPr>
          <a:xfrm>
            <a:off x="1385046" y="115144"/>
            <a:ext cx="996875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362622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1488342" y="1541463"/>
            <a:ext cx="1014095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type="title"/>
          </p:nvPr>
        </p:nvSpPr>
        <p:spPr>
          <a:xfrm>
            <a:off x="1385046" y="115144"/>
            <a:ext cx="996875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362622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8"/>
          <p:cNvSpPr txBox="1"/>
          <p:nvPr>
            <p:ph type="title"/>
          </p:nvPr>
        </p:nvSpPr>
        <p:spPr>
          <a:xfrm>
            <a:off x="1385046" y="115144"/>
            <a:ext cx="996875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1385046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2" type="body"/>
          </p:nvPr>
        </p:nvSpPr>
        <p:spPr>
          <a:xfrm>
            <a:off x="6719046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362622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9"/>
          <p:cNvSpPr txBox="1"/>
          <p:nvPr>
            <p:ph idx="1" type="body"/>
          </p:nvPr>
        </p:nvSpPr>
        <p:spPr>
          <a:xfrm>
            <a:off x="139076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139076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3" type="body"/>
          </p:nvPr>
        </p:nvSpPr>
        <p:spPr>
          <a:xfrm>
            <a:off x="6723181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9"/>
          <p:cNvSpPr txBox="1"/>
          <p:nvPr>
            <p:ph idx="4" type="body"/>
          </p:nvPr>
        </p:nvSpPr>
        <p:spPr>
          <a:xfrm>
            <a:off x="6723181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type="title"/>
          </p:nvPr>
        </p:nvSpPr>
        <p:spPr>
          <a:xfrm>
            <a:off x="1385046" y="115144"/>
            <a:ext cx="996875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362622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10"/>
          <p:cNvSpPr txBox="1"/>
          <p:nvPr>
            <p:ph type="title"/>
          </p:nvPr>
        </p:nvSpPr>
        <p:spPr>
          <a:xfrm>
            <a:off x="1385046" y="115144"/>
            <a:ext cx="996875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362622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11"/>
          <p:cNvSpPr txBox="1"/>
          <p:nvPr>
            <p:ph type="title"/>
          </p:nvPr>
        </p:nvSpPr>
        <p:spPr>
          <a:xfrm>
            <a:off x="1425942" y="111368"/>
            <a:ext cx="3932237" cy="13950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5769342" y="436440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5" name="Google Shape;55;p11"/>
          <p:cNvSpPr txBox="1"/>
          <p:nvPr>
            <p:ph idx="2" type="body"/>
          </p:nvPr>
        </p:nvSpPr>
        <p:spPr>
          <a:xfrm>
            <a:off x="1425942" y="1523206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362622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" name="Google Shape;58;p12"/>
          <p:cNvSpPr/>
          <p:nvPr>
            <p:ph idx="2" type="pic"/>
          </p:nvPr>
        </p:nvSpPr>
        <p:spPr>
          <a:xfrm>
            <a:off x="5524500" y="461169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2"/>
          <p:cNvSpPr txBox="1"/>
          <p:nvPr>
            <p:ph type="title"/>
          </p:nvPr>
        </p:nvSpPr>
        <p:spPr>
          <a:xfrm>
            <a:off x="1425942" y="111368"/>
            <a:ext cx="3932237" cy="13950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>
            <a:off x="1425942" y="1523206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362622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13"/>
          <p:cNvSpPr txBox="1"/>
          <p:nvPr>
            <p:ph type="title"/>
          </p:nvPr>
        </p:nvSpPr>
        <p:spPr>
          <a:xfrm>
            <a:off x="1385046" y="115144"/>
            <a:ext cx="996875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" type="body"/>
          </p:nvPr>
        </p:nvSpPr>
        <p:spPr>
          <a:xfrm rot="-5400000">
            <a:off x="4811568" y="-1715335"/>
            <a:ext cx="3115711" cy="99687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>
  <p:cSld name="Vertical Title and 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362622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p14"/>
          <p:cNvSpPr txBox="1"/>
          <p:nvPr>
            <p:ph type="title"/>
          </p:nvPr>
        </p:nvSpPr>
        <p:spPr>
          <a:xfrm rot="-5400000">
            <a:off x="-349050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 rot="-5400000">
            <a:off x="4995118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7.xml"/><Relationship Id="rId10" Type="http://schemas.openxmlformats.org/officeDocument/2006/relationships/slideLayout" Target="../slideLayouts/slideLayout6.xml"/><Relationship Id="rId13" Type="http://schemas.openxmlformats.org/officeDocument/2006/relationships/slideLayout" Target="../slideLayouts/slideLayout9.xml"/><Relationship Id="rId12" Type="http://schemas.openxmlformats.org/officeDocument/2006/relationships/slideLayout" Target="../slideLayouts/slideLayout8.xml"/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895" y="-13238"/>
            <a:ext cx="12187064" cy="6855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5767" y="-26076"/>
            <a:ext cx="1427426" cy="685164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accent3"/>
          </a:solidFill>
          <a:ln cap="flat" cmpd="sng" w="12700">
            <a:solidFill>
              <a:srgbClr val="A1A1A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49565" y="6463058"/>
            <a:ext cx="296143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/>
          <p:nvPr/>
        </p:nvSpPr>
        <p:spPr>
          <a:xfrm>
            <a:off x="2309446" y="-369332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3364523" y="-39858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1385046" y="115144"/>
            <a:ext cx="996875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1385046" y="1711187"/>
            <a:ext cx="9968754" cy="3115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A black and white logo&#10;&#10;Description automatically generated" id="21" name="Google Shape;2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1300" y="6365874"/>
            <a:ext cx="793750" cy="47624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3.jpg"/><Relationship Id="rId5" Type="http://schemas.openxmlformats.org/officeDocument/2006/relationships/image" Target="../media/image15.jpg"/><Relationship Id="rId6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jpg"/><Relationship Id="rId4" Type="http://schemas.openxmlformats.org/officeDocument/2006/relationships/image" Target="../media/image17.jpg"/><Relationship Id="rId5" Type="http://schemas.openxmlformats.org/officeDocument/2006/relationships/image" Target="../media/image19.png"/><Relationship Id="rId6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jpg"/><Relationship Id="rId4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26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1253110" y="-11608"/>
            <a:ext cx="10938889" cy="63666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3966" y="0"/>
            <a:ext cx="3291840" cy="850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 rotWithShape="1">
          <a:blip r:embed="rId4">
            <a:alphaModFix/>
          </a:blip>
          <a:srcRect b="24267" l="0" r="0" t="11449"/>
          <a:stretch/>
        </p:blipFill>
        <p:spPr>
          <a:xfrm>
            <a:off x="9191175" y="0"/>
            <a:ext cx="3000824" cy="100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6457950"/>
            <a:ext cx="12191999" cy="469353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/>
          <p:nvPr/>
        </p:nvSpPr>
        <p:spPr>
          <a:xfrm>
            <a:off x="1627925" y="1433750"/>
            <a:ext cx="9949800" cy="14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-US" sz="41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Grounded CAD: Geometry Whispers For CAD Edit</a:t>
            </a:r>
            <a:endParaRPr b="1" i="0" sz="41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4718675" y="2828475"/>
            <a:ext cx="3768300" cy="5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Team: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Night</a:t>
            </a:r>
            <a:r>
              <a:rPr lang="en-US" sz="2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Owls</a:t>
            </a:r>
            <a:endParaRPr b="0" i="0" sz="2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1127797" y="3620478"/>
            <a:ext cx="5596200" cy="16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Reiki Tanaya Karuka</a:t>
            </a:r>
            <a:endParaRPr b="1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 of Mechanical engineering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rkaruka@mtu.edu </a:t>
            </a:r>
            <a:r>
              <a:rPr b="0" i="0" lang="en-US" sz="21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  </a:t>
            </a:r>
            <a:endParaRPr b="0" i="0" sz="21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6392925" y="3683288"/>
            <a:ext cx="5596200" cy="16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Lenin Goud Athik</a:t>
            </a:r>
            <a:r>
              <a:rPr b="1" lang="en-US" sz="2100">
                <a:solidFill>
                  <a:schemeClr val="dk1"/>
                </a:solidFill>
              </a:rPr>
              <a:t>am</a:t>
            </a:r>
            <a:endParaRPr b="1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 of Computer Science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>
                <a:solidFill>
                  <a:schemeClr val="dk1"/>
                </a:solidFill>
              </a:rPr>
              <a:t>l</a:t>
            </a: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athikam@mtu.edu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4586525" y="5089625"/>
            <a:ext cx="3677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3</a:t>
            </a:r>
            <a:endParaRPr b="1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/>
          <p:cNvSpPr/>
          <p:nvPr/>
        </p:nvSpPr>
        <p:spPr>
          <a:xfrm>
            <a:off x="1467350" y="1734025"/>
            <a:ext cx="7274400" cy="298290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0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/>
          <p:cNvSpPr txBox="1"/>
          <p:nvPr>
            <p:ph type="title"/>
          </p:nvPr>
        </p:nvSpPr>
        <p:spPr>
          <a:xfrm>
            <a:off x="1515146" y="335919"/>
            <a:ext cx="9968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400">
                <a:latin typeface="Arial"/>
                <a:ea typeface="Arial"/>
                <a:cs typeface="Arial"/>
                <a:sym typeface="Arial"/>
              </a:rPr>
              <a:t>Motivation:</a:t>
            </a:r>
            <a:endParaRPr sz="3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"/>
          <p:cNvSpPr txBox="1"/>
          <p:nvPr>
            <p:ph idx="4294967295" type="body"/>
          </p:nvPr>
        </p:nvSpPr>
        <p:spPr>
          <a:xfrm>
            <a:off x="1225082" y="1917586"/>
            <a:ext cx="7382700" cy="31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36550" lvl="0" marL="640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•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Engineering changes and </a:t>
            </a: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rework consume 30–50% </a:t>
            </a:r>
            <a:r>
              <a:rPr lang="en-US" sz="1700">
                <a:latin typeface="Arial"/>
                <a:ea typeface="Arial"/>
                <a:cs typeface="Arial"/>
                <a:sym typeface="Arial"/>
              </a:rPr>
              <a:t>of engineering capacity. (de Melo, Vieira &amp; Bredillet, 2022)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640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•"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90% of engineering </a:t>
            </a:r>
            <a:r>
              <a:rPr lang="en-US" sz="1700">
                <a:latin typeface="Arial"/>
                <a:ea typeface="Arial"/>
                <a:cs typeface="Arial"/>
                <a:sym typeface="Arial"/>
              </a:rPr>
              <a:t>teams receive supplier feedback too late, often </a:t>
            </a: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causing redesign and production delays</a:t>
            </a:r>
            <a:r>
              <a:rPr lang="en-US" sz="1700">
                <a:latin typeface="Arial"/>
                <a:ea typeface="Arial"/>
                <a:cs typeface="Arial"/>
                <a:sym typeface="Arial"/>
              </a:rPr>
              <a:t>. (CoLab, State of Supplier Collaboration, 2025)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6400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•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Traditional CAD workflows rely heavily on </a:t>
            </a: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time-intensive manual iterations and specialized expertise</a:t>
            </a:r>
            <a:r>
              <a:rPr lang="en-US" sz="1700">
                <a:latin typeface="Arial"/>
                <a:ea typeface="Arial"/>
                <a:cs typeface="Arial"/>
                <a:sym typeface="Arial"/>
              </a:rPr>
              <a:t>. Our approach uses gen AI to edit and refine existing models, reducing the time required to achieve the designer’s intended outcome.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8636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2900" y="0"/>
            <a:ext cx="3309100" cy="63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75d711436_0_19"/>
          <p:cNvSpPr txBox="1"/>
          <p:nvPr>
            <p:ph type="title"/>
          </p:nvPr>
        </p:nvSpPr>
        <p:spPr>
          <a:xfrm>
            <a:off x="1385046" y="177944"/>
            <a:ext cx="9968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400">
                <a:latin typeface="Arial"/>
                <a:ea typeface="Arial"/>
                <a:cs typeface="Arial"/>
                <a:sym typeface="Arial"/>
              </a:rPr>
              <a:t>Grounded CAD: Model  </a:t>
            </a:r>
            <a:endParaRPr sz="3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f75d711436_0_19"/>
          <p:cNvSpPr/>
          <p:nvPr/>
        </p:nvSpPr>
        <p:spPr>
          <a:xfrm>
            <a:off x="7662672" y="1202436"/>
            <a:ext cx="1691640" cy="402336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5D5D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Parquet File</a:t>
            </a: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cxnSp>
        <p:nvCxnSpPr>
          <p:cNvPr id="97" name="Google Shape;97;g3f75d711436_0_19"/>
          <p:cNvCxnSpPr/>
          <p:nvPr/>
        </p:nvCxnSpPr>
        <p:spPr>
          <a:xfrm>
            <a:off x="9784080" y="1291318"/>
            <a:ext cx="0" cy="22457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" name="Google Shape;98;g3f75d711436_0_19"/>
          <p:cNvCxnSpPr/>
          <p:nvPr/>
        </p:nvCxnSpPr>
        <p:spPr>
          <a:xfrm rot="10800000">
            <a:off x="9646920" y="1399032"/>
            <a:ext cx="25603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g3f75d711436_0_19"/>
          <p:cNvSpPr/>
          <p:nvPr/>
        </p:nvSpPr>
        <p:spPr>
          <a:xfrm>
            <a:off x="10190988" y="1202436"/>
            <a:ext cx="1691640" cy="402336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5D5D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.Step</a:t>
            </a:r>
            <a:endParaRPr/>
          </a:p>
        </p:txBody>
      </p:sp>
      <p:sp>
        <p:nvSpPr>
          <p:cNvPr id="100" name="Google Shape;100;g3f75d711436_0_19"/>
          <p:cNvSpPr/>
          <p:nvPr/>
        </p:nvSpPr>
        <p:spPr>
          <a:xfrm rot="5400000">
            <a:off x="9573768" y="853857"/>
            <a:ext cx="402335" cy="1933955"/>
          </a:xfrm>
          <a:prstGeom prst="rightBrace">
            <a:avLst>
              <a:gd fmla="val 8333" name="adj1"/>
              <a:gd fmla="val 468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f75d711436_0_19"/>
          <p:cNvSpPr/>
          <p:nvPr/>
        </p:nvSpPr>
        <p:spPr>
          <a:xfrm>
            <a:off x="9052559" y="2022002"/>
            <a:ext cx="1604765" cy="364494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5D5D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Grounder</a:t>
            </a:r>
            <a:endParaRPr/>
          </a:p>
        </p:txBody>
      </p:sp>
      <p:sp>
        <p:nvSpPr>
          <p:cNvPr id="102" name="Google Shape;102;g3f75d711436_0_19"/>
          <p:cNvSpPr/>
          <p:nvPr/>
        </p:nvSpPr>
        <p:spPr>
          <a:xfrm>
            <a:off x="9052559" y="2571052"/>
            <a:ext cx="1604765" cy="364494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5D5D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Classifier</a:t>
            </a:r>
            <a:endParaRPr/>
          </a:p>
        </p:txBody>
      </p:sp>
      <p:sp>
        <p:nvSpPr>
          <p:cNvPr id="103" name="Google Shape;103;g3f75d711436_0_19"/>
          <p:cNvSpPr/>
          <p:nvPr/>
        </p:nvSpPr>
        <p:spPr>
          <a:xfrm>
            <a:off x="9057135" y="3108773"/>
            <a:ext cx="1604765" cy="374214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5D5D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Planner</a:t>
            </a:r>
            <a:endParaRPr/>
          </a:p>
        </p:txBody>
      </p:sp>
      <p:sp>
        <p:nvSpPr>
          <p:cNvPr id="104" name="Google Shape;104;g3f75d711436_0_19"/>
          <p:cNvSpPr/>
          <p:nvPr/>
        </p:nvSpPr>
        <p:spPr>
          <a:xfrm>
            <a:off x="9052559" y="3703032"/>
            <a:ext cx="1609341" cy="392446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5D5D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Executor</a:t>
            </a:r>
            <a:endParaRPr/>
          </a:p>
        </p:txBody>
      </p:sp>
      <p:sp>
        <p:nvSpPr>
          <p:cNvPr id="105" name="Google Shape;105;g3f75d711436_0_19"/>
          <p:cNvSpPr/>
          <p:nvPr/>
        </p:nvSpPr>
        <p:spPr>
          <a:xfrm>
            <a:off x="9052559" y="4292872"/>
            <a:ext cx="1609342" cy="392446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5D5D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Verifier</a:t>
            </a:r>
            <a:endParaRPr/>
          </a:p>
        </p:txBody>
      </p:sp>
      <p:sp>
        <p:nvSpPr>
          <p:cNvPr id="106" name="Google Shape;106;g3f75d711436_0_19"/>
          <p:cNvSpPr/>
          <p:nvPr/>
        </p:nvSpPr>
        <p:spPr>
          <a:xfrm>
            <a:off x="9052559" y="4833211"/>
            <a:ext cx="1618485" cy="402335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5D5D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Critic</a:t>
            </a:r>
            <a:endParaRPr/>
          </a:p>
        </p:txBody>
      </p:sp>
      <p:cxnSp>
        <p:nvCxnSpPr>
          <p:cNvPr id="107" name="Google Shape;107;g3f75d711436_0_19"/>
          <p:cNvCxnSpPr>
            <a:stCxn id="106" idx="1"/>
          </p:cNvCxnSpPr>
          <p:nvPr/>
        </p:nvCxnSpPr>
        <p:spPr>
          <a:xfrm rot="10800000">
            <a:off x="8531459" y="5034379"/>
            <a:ext cx="52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g3f75d711436_0_19"/>
          <p:cNvCxnSpPr/>
          <p:nvPr/>
        </p:nvCxnSpPr>
        <p:spPr>
          <a:xfrm rot="10800000">
            <a:off x="8531352" y="2753299"/>
            <a:ext cx="0" cy="228107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" name="Google Shape;109;g3f75d711436_0_19"/>
          <p:cNvCxnSpPr>
            <a:endCxn id="102" idx="1"/>
          </p:cNvCxnSpPr>
          <p:nvPr/>
        </p:nvCxnSpPr>
        <p:spPr>
          <a:xfrm flipH="1" rot="10800000">
            <a:off x="8531459" y="2753299"/>
            <a:ext cx="521100" cy="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0" name="Google Shape;110;g3f75d711436_0_19"/>
          <p:cNvSpPr/>
          <p:nvPr/>
        </p:nvSpPr>
        <p:spPr>
          <a:xfrm>
            <a:off x="9052559" y="5408084"/>
            <a:ext cx="1618486" cy="402335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5D5D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</p:txBody>
      </p:sp>
      <p:cxnSp>
        <p:nvCxnSpPr>
          <p:cNvPr id="111" name="Google Shape;111;g3f75d711436_0_19"/>
          <p:cNvCxnSpPr>
            <a:stCxn id="101" idx="2"/>
            <a:endCxn id="102" idx="0"/>
          </p:cNvCxnSpPr>
          <p:nvPr/>
        </p:nvCxnSpPr>
        <p:spPr>
          <a:xfrm>
            <a:off x="9854942" y="2386496"/>
            <a:ext cx="0" cy="18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2" name="Google Shape;112;g3f75d711436_0_19"/>
          <p:cNvCxnSpPr/>
          <p:nvPr/>
        </p:nvCxnSpPr>
        <p:spPr>
          <a:xfrm>
            <a:off x="9861801" y="2935546"/>
            <a:ext cx="0" cy="18455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3" name="Google Shape;113;g3f75d711436_0_19"/>
          <p:cNvCxnSpPr/>
          <p:nvPr/>
        </p:nvCxnSpPr>
        <p:spPr>
          <a:xfrm>
            <a:off x="9883894" y="3482987"/>
            <a:ext cx="0" cy="18455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4" name="Google Shape;114;g3f75d711436_0_19"/>
          <p:cNvCxnSpPr/>
          <p:nvPr/>
        </p:nvCxnSpPr>
        <p:spPr>
          <a:xfrm>
            <a:off x="9883894" y="4095478"/>
            <a:ext cx="0" cy="18455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5" name="Google Shape;115;g3f75d711436_0_19"/>
          <p:cNvCxnSpPr>
            <a:stCxn id="105" idx="2"/>
            <a:endCxn id="106" idx="0"/>
          </p:cNvCxnSpPr>
          <p:nvPr/>
        </p:nvCxnSpPr>
        <p:spPr>
          <a:xfrm>
            <a:off x="9857230" y="4685318"/>
            <a:ext cx="4500" cy="147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6" name="Google Shape;116;g3f75d711436_0_19"/>
          <p:cNvCxnSpPr/>
          <p:nvPr/>
        </p:nvCxnSpPr>
        <p:spPr>
          <a:xfrm>
            <a:off x="9886172" y="5235546"/>
            <a:ext cx="0" cy="18455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7" name="Google Shape;117;g3f75d711436_0_19"/>
          <p:cNvSpPr txBox="1"/>
          <p:nvPr/>
        </p:nvSpPr>
        <p:spPr>
          <a:xfrm>
            <a:off x="8578580" y="4803471"/>
            <a:ext cx="51052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/>
          </a:p>
        </p:txBody>
      </p:sp>
      <p:sp>
        <p:nvSpPr>
          <p:cNvPr id="118" name="Google Shape;118;g3f75d711436_0_19"/>
          <p:cNvSpPr txBox="1"/>
          <p:nvPr/>
        </p:nvSpPr>
        <p:spPr>
          <a:xfrm>
            <a:off x="9935723" y="5195237"/>
            <a:ext cx="51052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</p:txBody>
      </p:sp>
      <p:sp>
        <p:nvSpPr>
          <p:cNvPr id="119" name="Google Shape;119;g3f75d711436_0_19"/>
          <p:cNvSpPr txBox="1"/>
          <p:nvPr/>
        </p:nvSpPr>
        <p:spPr>
          <a:xfrm>
            <a:off x="1227100" y="1330500"/>
            <a:ext cx="6238500" cy="47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b="1" lang="en-US" sz="1700">
                <a:solidFill>
                  <a:schemeClr val="dk1"/>
                </a:solidFill>
              </a:rPr>
              <a:t>Inputs: </a:t>
            </a:r>
            <a:r>
              <a:rPr lang="en-US" sz="1700">
                <a:solidFill>
                  <a:schemeClr val="dk1"/>
                </a:solidFill>
              </a:rPr>
              <a:t>Instruction + STEP model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b="1" lang="en-US" sz="1700">
                <a:solidFill>
                  <a:schemeClr val="dk1"/>
                </a:solidFill>
              </a:rPr>
              <a:t>Grounder:</a:t>
            </a:r>
            <a:r>
              <a:rPr lang="en-US" sz="1700">
                <a:solidFill>
                  <a:schemeClr val="dk1"/>
                </a:solidFill>
              </a:rPr>
              <a:t> Builds a B-Rep geometry census: solids, faces, holes, edges, dimensions, and candidate locations.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b="1" lang="en-US" sz="1700">
                <a:solidFill>
                  <a:schemeClr val="dk1"/>
                </a:solidFill>
              </a:rPr>
              <a:t>Classifier:</a:t>
            </a:r>
            <a:r>
              <a:rPr lang="en-US" sz="1700">
                <a:solidFill>
                  <a:schemeClr val="dk1"/>
                </a:solidFill>
              </a:rPr>
              <a:t> Parses operation, dimensions, direction, and target type.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b="1" lang="en-US" sz="1700">
                <a:solidFill>
                  <a:schemeClr val="dk1"/>
                </a:solidFill>
              </a:rPr>
              <a:t>Planner</a:t>
            </a:r>
            <a:r>
              <a:rPr lang="en-US" sz="1700">
                <a:solidFill>
                  <a:schemeClr val="dk1"/>
                </a:solidFill>
              </a:rPr>
              <a:t>: Selects deterministic local CAD operations or a constrained CadQuery fallback.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b="1" lang="en-US" sz="1700">
                <a:solidFill>
                  <a:schemeClr val="dk1"/>
                </a:solidFill>
              </a:rPr>
              <a:t>Executor:</a:t>
            </a:r>
            <a:r>
              <a:rPr lang="en-US" sz="1700">
                <a:solidFill>
                  <a:schemeClr val="dk1"/>
                </a:solidFill>
              </a:rPr>
              <a:t> Runs edits in an isolated CadQuery/OpenCascade sandbox.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b="1" lang="en-US" sz="1700">
                <a:solidFill>
                  <a:schemeClr val="dk1"/>
                </a:solidFill>
              </a:rPr>
              <a:t>Verifier:</a:t>
            </a:r>
            <a:r>
              <a:rPr lang="en-US" sz="1700">
                <a:solidFill>
                  <a:schemeClr val="dk1"/>
                </a:solidFill>
              </a:rPr>
              <a:t> Checks STEP validity, geometric change, locality, and requested edit evidence.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b="1" lang="en-US" sz="1700">
                <a:solidFill>
                  <a:schemeClr val="dk1"/>
                </a:solidFill>
              </a:rPr>
              <a:t>Critic/Retry</a:t>
            </a:r>
            <a:r>
              <a:rPr lang="en-US" sz="1700">
                <a:solidFill>
                  <a:schemeClr val="dk1"/>
                </a:solidFill>
              </a:rPr>
              <a:t>: </a:t>
            </a:r>
            <a:r>
              <a:rPr lang="en-US" sz="1700">
                <a:solidFill>
                  <a:schemeClr val="dk1"/>
                </a:solidFill>
              </a:rPr>
              <a:t>Uses failure signals to revise a failed attempt.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75d711436_0_140"/>
          <p:cNvSpPr txBox="1"/>
          <p:nvPr>
            <p:ph type="title"/>
          </p:nvPr>
        </p:nvSpPr>
        <p:spPr>
          <a:xfrm>
            <a:off x="1385046" y="177944"/>
            <a:ext cx="9968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400">
                <a:latin typeface="Arial"/>
                <a:ea typeface="Arial"/>
                <a:cs typeface="Arial"/>
                <a:sym typeface="Arial"/>
              </a:rPr>
              <a:t>Grounded CAD:</a:t>
            </a:r>
            <a:endParaRPr sz="31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5" name="Google Shape;125;g3f75d711436_0_140"/>
          <p:cNvSpPr txBox="1"/>
          <p:nvPr/>
        </p:nvSpPr>
        <p:spPr>
          <a:xfrm>
            <a:off x="1464300" y="1262025"/>
            <a:ext cx="5922600" cy="19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>
                <a:solidFill>
                  <a:schemeClr val="dk1"/>
                </a:solidFill>
              </a:rPr>
              <a:t>Geometry census narrows the target to concrete B-Rep entities.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>
                <a:solidFill>
                  <a:schemeClr val="dk1"/>
                </a:solidFill>
              </a:rPr>
              <a:t>Local candidate edits are tried before unconstrained code generation.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>
                <a:solidFill>
                  <a:schemeClr val="dk1"/>
                </a:solidFill>
              </a:rPr>
              <a:t>Verification rejects unchanged, invalid, oversized, and wrong-scope outputs.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126" name="Google Shape;126;g3f75d711436_0_1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2100" y="962275"/>
            <a:ext cx="3667625" cy="3673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7" name="Google Shape;127;g3f75d711436_0_1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7375" y="3429000"/>
            <a:ext cx="2888625" cy="254454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75d711436_0_44"/>
          <p:cNvSpPr txBox="1"/>
          <p:nvPr>
            <p:ph type="title"/>
          </p:nvPr>
        </p:nvSpPr>
        <p:spPr>
          <a:xfrm>
            <a:off x="1385046" y="38344"/>
            <a:ext cx="9968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400">
                <a:latin typeface="Arial"/>
                <a:ea typeface="Arial"/>
                <a:cs typeface="Arial"/>
                <a:sym typeface="Arial"/>
              </a:rPr>
              <a:t>Grounded CAD: Results</a:t>
            </a:r>
            <a:endParaRPr/>
          </a:p>
        </p:txBody>
      </p:sp>
      <p:pic>
        <p:nvPicPr>
          <p:cNvPr id="133" name="Google Shape;133;g3f75d711436_0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0125" y="1060850"/>
            <a:ext cx="9696400" cy="501672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7724f6b57_0_2"/>
          <p:cNvSpPr txBox="1"/>
          <p:nvPr>
            <p:ph type="title"/>
          </p:nvPr>
        </p:nvSpPr>
        <p:spPr>
          <a:xfrm>
            <a:off x="1376321" y="-6"/>
            <a:ext cx="10986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400">
                <a:latin typeface="Arial"/>
                <a:ea typeface="Arial"/>
                <a:cs typeface="Arial"/>
                <a:sym typeface="Arial"/>
              </a:rPr>
              <a:t>Grounded CAD: Results </a:t>
            </a:r>
            <a:endParaRPr sz="34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9" name="Google Shape;139;g3f7724f6b57_0_2"/>
          <p:cNvGraphicFramePr/>
          <p:nvPr/>
        </p:nvGraphicFramePr>
        <p:xfrm>
          <a:off x="1655422" y="10253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{F5B307BB-E217-4675-B5CF-17A99FB1EC4B}</a:tableStyleId>
              </a:tblPr>
              <a:tblGrid>
                <a:gridCol w="3460950"/>
                <a:gridCol w="3191700"/>
                <a:gridCol w="3191700"/>
              </a:tblGrid>
              <a:tr h="633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 u="none" cap="none" strike="noStrike"/>
                        <a:t>Initial Model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6C6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Grounded CAD</a:t>
                      </a:r>
                      <a:endParaRPr sz="2200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6C6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solidFill>
                            <a:schemeClr val="dk1"/>
                          </a:solidFill>
                        </a:rPr>
                        <a:t>Scores</a:t>
                      </a:r>
                      <a:endParaRPr b="1" i="0" sz="2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6C6C6"/>
                    </a:solidFill>
                  </a:tcPr>
                </a:tc>
              </a:tr>
              <a:tr h="2310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700">
                          <a:solidFill>
                            <a:srgbClr val="111111"/>
                          </a:solidFill>
                        </a:rPr>
                        <a:t>Diff F1 0.2338</a:t>
                      </a:r>
                      <a:endParaRPr b="1" sz="1700">
                        <a:solidFill>
                          <a:srgbClr val="11111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111111"/>
                          </a:solidFill>
                        </a:rPr>
                        <a:t>Vol F1 0.9350 </a:t>
                      </a:r>
                      <a:endParaRPr b="1" sz="1700">
                        <a:solidFill>
                          <a:srgbClr val="11111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700">
                          <a:solidFill>
                            <a:srgbClr val="111111"/>
                          </a:solidFill>
                        </a:rPr>
                        <a:t>Chamfer 0.9865</a:t>
                      </a:r>
                      <a:endParaRPr b="1" sz="1700">
                        <a:solidFill>
                          <a:srgbClr val="11111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66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700">
                          <a:solidFill>
                            <a:srgbClr val="111111"/>
                          </a:solidFill>
                        </a:rPr>
                        <a:t>Diff F1 0.1186</a:t>
                      </a:r>
                      <a:endParaRPr b="1" sz="1700">
                        <a:solidFill>
                          <a:srgbClr val="11111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111111"/>
                          </a:solidFill>
                        </a:rPr>
                        <a:t>Vol F1 0.3877</a:t>
                      </a:r>
                      <a:endParaRPr b="1" sz="1700">
                        <a:solidFill>
                          <a:srgbClr val="11111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700">
                          <a:solidFill>
                            <a:srgbClr val="111111"/>
                          </a:solidFill>
                        </a:rPr>
                        <a:t> Chamfer 0.9759</a:t>
                      </a:r>
                      <a:endParaRPr b="1" sz="1700">
                        <a:solidFill>
                          <a:srgbClr val="11111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40" name="Google Shape;140;g3f7724f6b57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2300" y="1752421"/>
            <a:ext cx="2066571" cy="2196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3f7724f6b57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8475" y="1820137"/>
            <a:ext cx="2323451" cy="2061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g3f7724f6b57_0_2"/>
          <p:cNvPicPr preferRelativeResize="0"/>
          <p:nvPr/>
        </p:nvPicPr>
        <p:blipFill rotWithShape="1">
          <a:blip r:embed="rId5">
            <a:alphaModFix/>
          </a:blip>
          <a:srcRect b="6542" l="0" r="0" t="18602"/>
          <a:stretch/>
        </p:blipFill>
        <p:spPr>
          <a:xfrm>
            <a:off x="1891375" y="4160300"/>
            <a:ext cx="2550551" cy="1909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3f7724f6b57_0_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86088" y="4200263"/>
            <a:ext cx="2167350" cy="182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75d711436_0_49"/>
          <p:cNvSpPr txBox="1"/>
          <p:nvPr>
            <p:ph type="title"/>
          </p:nvPr>
        </p:nvSpPr>
        <p:spPr>
          <a:xfrm>
            <a:off x="1376321" y="-6"/>
            <a:ext cx="10986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400">
                <a:latin typeface="Arial"/>
                <a:ea typeface="Arial"/>
                <a:cs typeface="Arial"/>
                <a:sym typeface="Arial"/>
              </a:rPr>
              <a:t>Grounded CAD: Results </a:t>
            </a:r>
            <a:endParaRPr sz="34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9" name="Google Shape;149;g3f75d711436_0_49"/>
          <p:cNvGraphicFramePr/>
          <p:nvPr/>
        </p:nvGraphicFramePr>
        <p:xfrm>
          <a:off x="2371372" y="10253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{F5B307BB-E217-4675-B5CF-17A99FB1EC4B}</a:tableStyleId>
              </a:tblPr>
              <a:tblGrid>
                <a:gridCol w="2737950"/>
                <a:gridCol w="2556200"/>
                <a:gridCol w="2556200"/>
              </a:tblGrid>
              <a:tr h="63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 u="none" cap="none" strike="noStrike"/>
                        <a:t>Initial Model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6C6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Grounded CAD</a:t>
                      </a:r>
                      <a:endParaRPr sz="2200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6C6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solidFill>
                            <a:schemeClr val="dk1"/>
                          </a:solidFill>
                        </a:rPr>
                        <a:t>Scores</a:t>
                      </a:r>
                      <a:endParaRPr b="1" i="0" sz="2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6C6C6"/>
                    </a:solidFill>
                  </a:tcPr>
                </a:tc>
              </a:tr>
              <a:tr h="1776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50">
                          <a:solidFill>
                            <a:schemeClr val="dk1"/>
                          </a:solidFill>
                        </a:rPr>
                        <a:t>Add third rotor b</a:t>
                      </a:r>
                      <a:r>
                        <a:rPr lang="en-US" sz="1150">
                          <a:solidFill>
                            <a:schemeClr val="dk1"/>
                          </a:solidFill>
                        </a:rPr>
                        <a:t>lade to assembly</a:t>
                      </a:r>
                      <a:endParaRPr sz="11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700">
                        <a:solidFill>
                          <a:srgbClr val="11111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700">
                        <a:solidFill>
                          <a:srgbClr val="11111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700">
                          <a:solidFill>
                            <a:srgbClr val="111111"/>
                          </a:solidFill>
                        </a:rPr>
                        <a:t>Diff F1 0.2453</a:t>
                      </a:r>
                      <a:endParaRPr b="1" sz="1700">
                        <a:solidFill>
                          <a:srgbClr val="11111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111111"/>
                          </a:solidFill>
                        </a:rPr>
                        <a:t>Vol F1 0.6384 </a:t>
                      </a:r>
                      <a:endParaRPr b="1" sz="1700">
                        <a:solidFill>
                          <a:srgbClr val="11111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700">
                          <a:solidFill>
                            <a:srgbClr val="111111"/>
                          </a:solidFill>
                        </a:rPr>
                        <a:t> Chamfer 0.9776</a:t>
                      </a:r>
                      <a:endParaRPr b="1" sz="1700">
                        <a:solidFill>
                          <a:srgbClr val="11111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8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700">
                          <a:solidFill>
                            <a:srgbClr val="111111"/>
                          </a:solidFill>
                        </a:rPr>
                        <a:t>Diff F1 0.286</a:t>
                      </a:r>
                      <a:endParaRPr b="1" sz="1700">
                        <a:solidFill>
                          <a:srgbClr val="11111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111111"/>
                          </a:solidFill>
                        </a:rPr>
                        <a:t>Vol F1 0.4688 </a:t>
                      </a:r>
                      <a:endParaRPr b="1" sz="1700">
                        <a:solidFill>
                          <a:srgbClr val="11111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700">
                          <a:solidFill>
                            <a:srgbClr val="111111"/>
                          </a:solidFill>
                        </a:rPr>
                        <a:t>Chamfer 0.9490</a:t>
                      </a:r>
                      <a:endParaRPr b="1" sz="1700">
                        <a:solidFill>
                          <a:srgbClr val="11111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50" name="Google Shape;150;g3f75d711436_0_49"/>
          <p:cNvPicPr preferRelativeResize="0"/>
          <p:nvPr/>
        </p:nvPicPr>
        <p:blipFill rotWithShape="1">
          <a:blip r:embed="rId3">
            <a:alphaModFix/>
          </a:blip>
          <a:srcRect b="13253" l="17301" r="0" t="11868"/>
          <a:stretch/>
        </p:blipFill>
        <p:spPr>
          <a:xfrm>
            <a:off x="2664025" y="2037575"/>
            <a:ext cx="1921751" cy="1391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g3f75d711436_0_49"/>
          <p:cNvPicPr preferRelativeResize="0"/>
          <p:nvPr/>
        </p:nvPicPr>
        <p:blipFill rotWithShape="1">
          <a:blip r:embed="rId4">
            <a:alphaModFix/>
          </a:blip>
          <a:srcRect b="8588" l="10992" r="11818" t="8754"/>
          <a:stretch/>
        </p:blipFill>
        <p:spPr>
          <a:xfrm>
            <a:off x="2899588" y="3595038"/>
            <a:ext cx="1595174" cy="1708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g3f75d711436_0_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83538" y="3522925"/>
            <a:ext cx="1826001" cy="18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g3f75d711436_0_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56000" y="1821925"/>
            <a:ext cx="1738375" cy="1466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7724f6b57_0_19"/>
          <p:cNvSpPr txBox="1"/>
          <p:nvPr>
            <p:ph type="title"/>
          </p:nvPr>
        </p:nvSpPr>
        <p:spPr>
          <a:xfrm>
            <a:off x="1376321" y="-6"/>
            <a:ext cx="10986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400">
                <a:latin typeface="Arial"/>
                <a:ea typeface="Arial"/>
                <a:cs typeface="Arial"/>
                <a:sym typeface="Arial"/>
              </a:rPr>
              <a:t>Grounded CAD: Results </a:t>
            </a:r>
            <a:endParaRPr sz="34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9" name="Google Shape;159;g3f7724f6b57_0_19"/>
          <p:cNvGraphicFramePr/>
          <p:nvPr/>
        </p:nvGraphicFramePr>
        <p:xfrm>
          <a:off x="2245772" y="15905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{F5B307BB-E217-4675-B5CF-17A99FB1EC4B}</a:tableStyleId>
              </a:tblPr>
              <a:tblGrid>
                <a:gridCol w="2675600"/>
                <a:gridCol w="2868450"/>
                <a:gridCol w="2868450"/>
              </a:tblGrid>
              <a:tr h="881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 u="none" cap="none" strike="noStrike"/>
                        <a:t>Initial Model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6C6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2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Grounded CAD</a:t>
                      </a:r>
                      <a:endParaRPr sz="2200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6C6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2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6C6C6"/>
                    </a:solidFill>
                  </a:tcPr>
                </a:tc>
              </a:tr>
              <a:tr h="246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rgbClr val="11111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700">
                        <a:solidFill>
                          <a:srgbClr val="11111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700">
                          <a:solidFill>
                            <a:srgbClr val="111111"/>
                          </a:solidFill>
                        </a:rPr>
                        <a:t>Diff F1 0.0795</a:t>
                      </a:r>
                      <a:endParaRPr b="1" sz="1700">
                        <a:solidFill>
                          <a:srgbClr val="11111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111111"/>
                          </a:solidFill>
                        </a:rPr>
                        <a:t>Vol F1 0.7885</a:t>
                      </a:r>
                      <a:endParaRPr b="1" sz="1700">
                        <a:solidFill>
                          <a:srgbClr val="11111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700">
                          <a:solidFill>
                            <a:srgbClr val="111111"/>
                          </a:solidFill>
                        </a:rPr>
                        <a:t> Chamfer 0.9817</a:t>
                      </a:r>
                      <a:endParaRPr b="1" sz="1700">
                        <a:solidFill>
                          <a:srgbClr val="11111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60" name="Google Shape;160;g3f7724f6b57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8350" y="2660777"/>
            <a:ext cx="2182147" cy="2182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g3f7724f6b57_0_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2713" y="2544307"/>
            <a:ext cx="2066571" cy="2196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7724f6b57_0_41"/>
          <p:cNvSpPr txBox="1"/>
          <p:nvPr>
            <p:ph type="title"/>
          </p:nvPr>
        </p:nvSpPr>
        <p:spPr>
          <a:xfrm>
            <a:off x="1385050" y="143650"/>
            <a:ext cx="10439400" cy="12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400">
                <a:latin typeface="Arial"/>
                <a:ea typeface="Arial"/>
                <a:cs typeface="Arial"/>
                <a:sym typeface="Arial"/>
              </a:rPr>
              <a:t>Grounded CAD: Cost Efficiency &amp; Scalability</a:t>
            </a:r>
            <a:endParaRPr/>
          </a:p>
        </p:txBody>
      </p:sp>
      <p:pic>
        <p:nvPicPr>
          <p:cNvPr id="167" name="Google Shape;167;g3f7724f6b57_0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1724" y="2096275"/>
            <a:ext cx="5127175" cy="338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3f7724f6b57_0_41"/>
          <p:cNvSpPr txBox="1"/>
          <p:nvPr/>
        </p:nvSpPr>
        <p:spPr>
          <a:xfrm>
            <a:off x="1531432" y="2189525"/>
            <a:ext cx="4972800" cy="31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The harness avoids sending full STEP text to the model.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Instead, it sends compact geometry summaries, orthographic view sheets, parsed dimensions, and targeted retry feedback.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Deterministic candidates handle cheap local edits before spending GPT calls.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169" name="Google Shape;169;g3f7724f6b57_0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6958" y="2096275"/>
            <a:ext cx="5127175" cy="338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f7724f6b57_0_41"/>
          <p:cNvSpPr txBox="1"/>
          <p:nvPr/>
        </p:nvSpPr>
        <p:spPr>
          <a:xfrm>
            <a:off x="6743187" y="2096275"/>
            <a:ext cx="5127300" cy="28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Each row runs in a child process with a watchdog.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Large assemblies skip expensive source rendering when it risks freezing the benchmark.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Timeouts are no longer scored as ordinary valid predictions.</a:t>
            </a:r>
            <a:endParaRPr sz="1700"/>
          </a:p>
        </p:txBody>
      </p:sp>
      <p:pic>
        <p:nvPicPr>
          <p:cNvPr id="171" name="Google Shape;171;g3f7724f6b57_0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953" y="1413888"/>
            <a:ext cx="5127175" cy="6325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2" name="Google Shape;172;g3f7724f6b57_0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5708" y="1413888"/>
            <a:ext cx="5127175" cy="6325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3" name="Google Shape;173;g3f7724f6b57_0_41"/>
          <p:cNvSpPr txBox="1"/>
          <p:nvPr/>
        </p:nvSpPr>
        <p:spPr>
          <a:xfrm>
            <a:off x="1461261" y="1462800"/>
            <a:ext cx="51273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</a:rPr>
              <a:t>T</a:t>
            </a:r>
            <a:r>
              <a:rPr b="1" lang="en-US" sz="2100">
                <a:solidFill>
                  <a:schemeClr val="dk1"/>
                </a:solidFill>
              </a:rPr>
              <a:t>oken efficiency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f7724f6b57_0_41"/>
          <p:cNvSpPr txBox="1"/>
          <p:nvPr/>
        </p:nvSpPr>
        <p:spPr>
          <a:xfrm>
            <a:off x="7274738" y="1476213"/>
            <a:ext cx="3623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</a:rPr>
              <a:t>Scalability</a:t>
            </a:r>
            <a:r>
              <a:rPr b="1" lang="en-US" sz="2100">
                <a:solidFill>
                  <a:schemeClr val="dk1"/>
                </a:solidFill>
              </a:rPr>
              <a:t> efficiency</a:t>
            </a:r>
            <a:endParaRPr b="1"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7724f6b57_0_30"/>
          <p:cNvSpPr txBox="1"/>
          <p:nvPr>
            <p:ph type="title"/>
          </p:nvPr>
        </p:nvSpPr>
        <p:spPr>
          <a:xfrm>
            <a:off x="1411225" y="86500"/>
            <a:ext cx="10661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400">
                <a:latin typeface="Arial"/>
                <a:ea typeface="Arial"/>
                <a:cs typeface="Arial"/>
                <a:sym typeface="Arial"/>
              </a:rPr>
              <a:t>Ablation Study Observation</a:t>
            </a:r>
            <a:r>
              <a:rPr lang="en-US" sz="3100">
                <a:latin typeface="Georgia"/>
                <a:ea typeface="Georgia"/>
                <a:cs typeface="Georgia"/>
                <a:sym typeface="Georgia"/>
              </a:rPr>
              <a:t>:</a:t>
            </a:r>
            <a:endParaRPr sz="3400"/>
          </a:p>
        </p:txBody>
      </p:sp>
      <p:graphicFrame>
        <p:nvGraphicFramePr>
          <p:cNvPr id="180" name="Google Shape;180;g3f7724f6b57_0_30"/>
          <p:cNvGraphicFramePr/>
          <p:nvPr/>
        </p:nvGraphicFramePr>
        <p:xfrm>
          <a:off x="1836468" y="19087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{F5B307BB-E217-4675-B5CF-17A99FB1EC4B}</a:tableStyleId>
              </a:tblPr>
              <a:tblGrid>
                <a:gridCol w="2015650"/>
                <a:gridCol w="2004725"/>
                <a:gridCol w="2004725"/>
              </a:tblGrid>
              <a:tr h="419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Component Tested</a:t>
                      </a:r>
                      <a:endParaRPr b="1" sz="17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Success Rate</a:t>
                      </a:r>
                      <a:endParaRPr b="1" sz="17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Diff_F1</a:t>
                      </a:r>
                      <a:endParaRPr b="1" sz="17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417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Grounder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 60% (9/15)</a:t>
                      </a:r>
                      <a:endParaRPr sz="17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0.1007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Classifier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 60% (9/15)</a:t>
                      </a:r>
                      <a:r>
                        <a:rPr lang="en-US" sz="1700"/>
                        <a:t>     </a:t>
                      </a:r>
                      <a:endParaRPr sz="17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0.1112</a:t>
                      </a:r>
                      <a:endParaRPr sz="17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Planner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       </a:t>
                      </a: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60% (9/15)  </a:t>
                      </a:r>
                      <a:endParaRPr sz="17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0.0897</a:t>
                      </a:r>
                      <a:endParaRPr sz="17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Executor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60% (9/15) 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0.0809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Verif</a:t>
                      </a:r>
                      <a:r>
                        <a:rPr lang="en-US" sz="1700"/>
                        <a:t>ier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       66.7%</a:t>
                      </a: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(10/15) </a:t>
                      </a:r>
                      <a:endParaRPr sz="17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0.0829</a:t>
                      </a:r>
                      <a:endParaRPr sz="17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Critic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      </a:t>
                      </a: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 60% (9/15)</a:t>
                      </a:r>
                      <a:endParaRPr sz="17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 0.0921</a:t>
                      </a:r>
                      <a:endParaRPr sz="17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7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Groundcad</a:t>
                      </a:r>
                      <a:endParaRPr sz="17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(with all agents)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 60% (9/15)</a:t>
                      </a:r>
                      <a:endParaRPr sz="17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0.1151</a:t>
                      </a:r>
                      <a:endParaRPr sz="17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81" name="Google Shape;181;g3f7724f6b57_0_30"/>
          <p:cNvPicPr preferRelativeResize="0"/>
          <p:nvPr/>
        </p:nvPicPr>
        <p:blipFill rotWithShape="1">
          <a:blip r:embed="rId3">
            <a:alphaModFix/>
          </a:blip>
          <a:srcRect b="0" l="2439" r="0" t="0"/>
          <a:stretch/>
        </p:blipFill>
        <p:spPr>
          <a:xfrm>
            <a:off x="8014950" y="2260125"/>
            <a:ext cx="3789526" cy="2777876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2" name="Google Shape;182;g3f7724f6b57_0_30"/>
          <p:cNvSpPr txBox="1"/>
          <p:nvPr/>
        </p:nvSpPr>
        <p:spPr>
          <a:xfrm>
            <a:off x="1544925" y="1017400"/>
            <a:ext cx="9585000" cy="1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Ablation - To see which agent contributes more to the  model overall success.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Tested a mixture of 15 different level rows to see the agent effect on the overall workflow.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75d711436_0_34"/>
          <p:cNvSpPr txBox="1"/>
          <p:nvPr>
            <p:ph type="title"/>
          </p:nvPr>
        </p:nvSpPr>
        <p:spPr>
          <a:xfrm>
            <a:off x="1411225" y="86500"/>
            <a:ext cx="10661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400">
                <a:latin typeface="Arial"/>
                <a:ea typeface="Arial"/>
                <a:cs typeface="Arial"/>
                <a:sym typeface="Arial"/>
              </a:rPr>
              <a:t>Ablation Study Observation</a:t>
            </a:r>
            <a:r>
              <a:rPr lang="en-US" sz="3100">
                <a:latin typeface="Georgia"/>
                <a:ea typeface="Georgia"/>
                <a:cs typeface="Georgia"/>
                <a:sym typeface="Georgia"/>
              </a:rPr>
              <a:t>:</a:t>
            </a:r>
            <a:endParaRPr sz="3400"/>
          </a:p>
        </p:txBody>
      </p:sp>
      <p:graphicFrame>
        <p:nvGraphicFramePr>
          <p:cNvPr id="188" name="Google Shape;188;g3f75d711436_0_34"/>
          <p:cNvGraphicFramePr/>
          <p:nvPr/>
        </p:nvGraphicFramePr>
        <p:xfrm>
          <a:off x="1596043" y="10843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{F5B307BB-E217-4675-B5CF-17A99FB1EC4B}</a:tableStyleId>
              </a:tblPr>
              <a:tblGrid>
                <a:gridCol w="4909950"/>
                <a:gridCol w="4883300"/>
              </a:tblGrid>
              <a:tr h="605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Component Tested</a:t>
                      </a:r>
                      <a:endParaRPr b="1" sz="17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/>
                        <a:t>Observed Effect</a:t>
                      </a:r>
                      <a:endParaRPr b="1" sz="17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59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Orthographic sheet</a:t>
                      </a:r>
                      <a:endParaRPr sz="17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Helped visual grounding after true axis-aligned views were fixed</a:t>
                      </a:r>
                      <a:endParaRPr sz="17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Generic image highlighting</a:t>
                      </a:r>
                      <a:endParaRPr sz="17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Reduced score because highlights confused target selection</a:t>
                      </a:r>
                      <a:endParaRPr sz="17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STEP / ISO RAG</a:t>
                      </a:r>
                      <a:endParaRPr sz="17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Added tokens and latency with limited benefit over compact geometry census</a:t>
                      </a:r>
                      <a:endParaRPr sz="17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Candidate enumeration</a:t>
                      </a:r>
                      <a:endParaRPr sz="17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Avoided identity outputs, but sometimes selected the wrong edge or scope</a:t>
                      </a:r>
                      <a:endParaRPr sz="17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7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Failure buckets</a:t>
                      </a:r>
                      <a:endParaRPr sz="17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Gave useful retry signals: identity, wrong_edge_or_scope, over_edit, OCC failure</a:t>
                      </a:r>
                      <a:endParaRPr sz="17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Watchdog isolation</a:t>
                      </a:r>
                      <a:endParaRPr sz="17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Prevented frozen or partial rows from being scored as valid predictions</a:t>
                      </a:r>
                      <a:endParaRPr sz="17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75d711436_0_39"/>
          <p:cNvSpPr txBox="1"/>
          <p:nvPr>
            <p:ph type="title"/>
          </p:nvPr>
        </p:nvSpPr>
        <p:spPr>
          <a:xfrm>
            <a:off x="1385050" y="177950"/>
            <a:ext cx="10636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400">
                <a:latin typeface="Arial"/>
                <a:ea typeface="Arial"/>
                <a:cs typeface="Arial"/>
                <a:sym typeface="Arial"/>
              </a:rPr>
              <a:t>Limitations, Observations &amp; Future scope: </a:t>
            </a:r>
            <a:endParaRPr sz="31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4" name="Google Shape;194;g3f75d711436_0_39"/>
          <p:cNvSpPr txBox="1"/>
          <p:nvPr>
            <p:ph idx="4294967295" type="body"/>
          </p:nvPr>
        </p:nvSpPr>
        <p:spPr>
          <a:xfrm>
            <a:off x="1385038" y="1327353"/>
            <a:ext cx="5892900" cy="38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Wrong feature/edge selection remains the dominant cause of low D.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Complex multi-solid assemblies can cause OpenCascade boolean or rendering timeouts.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Image highlighting was not reliable enough for generic CAD features.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STEP-derived B-Rep facts were more useful than broad RAG retrieval.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Next: Confidence-gated deterministic operations and stronger local feature matching.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17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g3f75d711436_0_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3400" y="1231375"/>
            <a:ext cx="3093800" cy="26957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6" name="Google Shape;196;g3f75d711436_0_39"/>
          <p:cNvPicPr preferRelativeResize="0"/>
          <p:nvPr/>
        </p:nvPicPr>
        <p:blipFill rotWithShape="1">
          <a:blip r:embed="rId4">
            <a:alphaModFix/>
          </a:blip>
          <a:srcRect b="1985" l="650" r="0" t="3826"/>
          <a:stretch/>
        </p:blipFill>
        <p:spPr>
          <a:xfrm>
            <a:off x="6606075" y="4482266"/>
            <a:ext cx="4855464" cy="114556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677375" cy="105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"/>
          <p:cNvPicPr preferRelativeResize="0"/>
          <p:nvPr/>
        </p:nvPicPr>
        <p:blipFill rotWithShape="1">
          <a:blip r:embed="rId4">
            <a:alphaModFix/>
          </a:blip>
          <a:srcRect b="24267" l="0" r="0" t="11449"/>
          <a:stretch/>
        </p:blipFill>
        <p:spPr>
          <a:xfrm>
            <a:off x="9191175" y="0"/>
            <a:ext cx="3000824" cy="100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6457950"/>
            <a:ext cx="12191999" cy="4693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74925" y="869025"/>
            <a:ext cx="5676775" cy="56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2021-02-17T02:31:40Z</dcterms:created>
  <dc:creator>Microsoft Office User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0x010100BC3DAC8D95F2F542873E83EFDB62DA65</vt:lpwstr>
  </property>
</Properties>
</file>