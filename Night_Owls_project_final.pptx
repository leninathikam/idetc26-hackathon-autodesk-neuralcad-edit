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41A4BA4-8928-4C74-B3C0-A9A97B3EDFBC}">
  <a:tblStyle styleId="{941A4BA4-8928-4C74-B3C0-A9A97B3EDFB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4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23" name="Google Shape;23;p4">
            <a:extLst>
              <a:ext uri="{FF2B5EF4-FFF2-40B4-BE49-F238E27FC236}">
                <a16:creationId xmlns:a16="http://schemas.microsoft.com/office/drawing/2014/main" id="{F91BCCDA-31ED-450C-ACC6-BD3E9A76887A}"/>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
        <p:cNvGrpSpPr/>
        <p:nvPr/>
      </p:nvGrpSpPr>
      <p:grpSpPr>
        <a:xfrm>
          <a:off x="0" y="0"/>
          <a:ext cx="0" cy="0"/>
          <a:chOff x="0" y="0"/>
          <a:chExt cx="0" cy="0"/>
        </a:xfrm>
      </p:grpSpPr>
      <p:sp>
        <p:nvSpPr>
          <p:cNvPr id="25" name="Google Shape;25;p5">
            <a:extLst>
              <a:ext uri="{FF2B5EF4-FFF2-40B4-BE49-F238E27FC236}">
                <a16:creationId xmlns:a16="http://schemas.microsoft.com/office/drawing/2014/main" id="{91D868B5-F133-4BF4-BD72-7E67658C8A1B}"/>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26" name="Google Shape;26;p5">
            <a:extLst>
              <a:ext uri="{FF2B5EF4-FFF2-40B4-BE49-F238E27FC236}">
                <a16:creationId xmlns:a16="http://schemas.microsoft.com/office/drawing/2014/main" id="{97A2A4DD-9A04-4190-BCBA-6F90CC74818D}"/>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7" name="Google Shape;27;p5">
            <a:extLst>
              <a:ext uri="{FF2B5EF4-FFF2-40B4-BE49-F238E27FC236}">
                <a16:creationId xmlns:a16="http://schemas.microsoft.com/office/drawing/2014/main" id="{F141FE20-9002-4ADA-AA6A-7834556FB739}"/>
              </a:ext>
            </a:extLst>
          </p:cNvPr>
          <p:cNvSpPr>
            <a:spLocks noGrp="1"/>
          </p:cNvSpPr>
          <p:nvPr>
            <p:ph type="body" idx="1"/>
          </p:nvPr>
        </p:nvSpPr>
        <p:spPr>
          <a:xfrm>
            <a:off x="1385046" y="1711187"/>
            <a:ext cx="9968754" cy="3115711"/>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
        <p:cNvGrpSpPr/>
        <p:nvPr/>
      </p:nvGrpSpPr>
      <p:grpSpPr>
        <a:xfrm>
          <a:off x="0" y="0"/>
          <a:ext cx="0" cy="0"/>
          <a:chOff x="0" y="0"/>
          <a:chExt cx="0" cy="0"/>
        </a:xfrm>
      </p:grpSpPr>
      <p:sp>
        <p:nvSpPr>
          <p:cNvPr id="29" name="Google Shape;29;p6">
            <a:extLst>
              <a:ext uri="{FF2B5EF4-FFF2-40B4-BE49-F238E27FC236}">
                <a16:creationId xmlns:a16="http://schemas.microsoft.com/office/drawing/2014/main" id="{7EF00C2C-5B64-4D22-98E1-AFE61A86DB2C}"/>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30" name="Google Shape;30;p6">
            <a:extLst>
              <a:ext uri="{FF2B5EF4-FFF2-40B4-BE49-F238E27FC236}">
                <a16:creationId xmlns:a16="http://schemas.microsoft.com/office/drawing/2014/main" id="{5938038D-8A59-4162-B6AC-3EF640F12697}"/>
              </a:ext>
            </a:extLst>
          </p:cNvPr>
          <p:cNvSpPr>
            <a:spLocks noGrp="1"/>
          </p:cNvSpPr>
          <p:nvPr>
            <p:ph type="subTitle" idx="1"/>
          </p:nvPr>
        </p:nvSpPr>
        <p:spPr>
          <a:xfrm>
            <a:off x="1524000" y="1304315"/>
            <a:ext cx="9144000" cy="1655762"/>
          </a:xfrm>
          <a:prstGeom prst="rect">
            <a:avLst/>
          </a:prstGeom>
          <a:noFill/>
          <a:ln>
            <a:noFill/>
          </a:ln>
        </p:spPr>
        <p:txBody>
          <a:bodyPr spcFirstLastPara="1" wrap="square" lIns="91425" tIns="45700" rIns="91425" bIns="45700" anchor="t">
            <a:normAutofit/>
          </a:bodyPr>
          <a:lstStyle>
            <a:lvl1pPr algn="ctr">
              <a:lnSpc>
                <a:spcPct val="90000"/>
              </a:lnSpc>
              <a:spcBef>
                <a:spcPts val="1000"/>
              </a:spcBef>
              <a:spcAft>
                <a:spcPts val="0"/>
              </a:spcAft>
              <a:buClr>
                <a:schemeClr val="dk1"/>
              </a:buClr>
              <a:buSzPts val="2400"/>
              <a:buNone/>
              <a:defRPr sz="2400"/>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a:endParaRPr/>
          </a:p>
        </p:txBody>
      </p:sp>
      <p:sp>
        <p:nvSpPr>
          <p:cNvPr id="31" name="Google Shape;31;p6">
            <a:extLst>
              <a:ext uri="{FF2B5EF4-FFF2-40B4-BE49-F238E27FC236}">
                <a16:creationId xmlns:a16="http://schemas.microsoft.com/office/drawing/2014/main" id="{3ACCE550-2C25-4EFA-8F7D-D5844AD1D936}"/>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
        <p:cNvGrpSpPr/>
        <p:nvPr/>
      </p:nvGrpSpPr>
      <p:grpSpPr>
        <a:xfrm>
          <a:off x="0" y="0"/>
          <a:ext cx="0" cy="0"/>
          <a:chOff x="0" y="0"/>
          <a:chExt cx="0" cy="0"/>
        </a:xfrm>
      </p:grpSpPr>
      <p:sp>
        <p:nvSpPr>
          <p:cNvPr id="33" name="Google Shape;33;p7">
            <a:extLst>
              <a:ext uri="{FF2B5EF4-FFF2-40B4-BE49-F238E27FC236}">
                <a16:creationId xmlns:a16="http://schemas.microsoft.com/office/drawing/2014/main" id="{628D4091-F76C-4D1A-B406-8667ABF5B273}"/>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34" name="Google Shape;34;p7">
            <a:extLst>
              <a:ext uri="{FF2B5EF4-FFF2-40B4-BE49-F238E27FC236}">
                <a16:creationId xmlns:a16="http://schemas.microsoft.com/office/drawing/2014/main" id="{4D8851C0-3A1A-48CF-A98F-2999ABC7B43B}"/>
              </a:ext>
            </a:extLst>
          </p:cNvPr>
          <p:cNvSpPr>
            <a:spLocks noGrp="1"/>
          </p:cNvSpPr>
          <p:nvPr>
            <p:ph type="body" idx="1"/>
          </p:nvPr>
        </p:nvSpPr>
        <p:spPr>
          <a:xfrm>
            <a:off x="1488342" y="1541463"/>
            <a:ext cx="1014095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7">
            <a:extLst>
              <a:ext uri="{FF2B5EF4-FFF2-40B4-BE49-F238E27FC236}">
                <a16:creationId xmlns:a16="http://schemas.microsoft.com/office/drawing/2014/main" id="{48827822-CA6F-4CA4-850E-F9B274725A88}"/>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
        <p:cNvGrpSpPr/>
        <p:nvPr/>
      </p:nvGrpSpPr>
      <p:grpSpPr>
        <a:xfrm>
          <a:off x="0" y="0"/>
          <a:ext cx="0" cy="0"/>
          <a:chOff x="0" y="0"/>
          <a:chExt cx="0" cy="0"/>
        </a:xfrm>
      </p:grpSpPr>
      <p:sp>
        <p:nvSpPr>
          <p:cNvPr id="37" name="Google Shape;37;p8">
            <a:extLst>
              <a:ext uri="{FF2B5EF4-FFF2-40B4-BE49-F238E27FC236}">
                <a16:creationId xmlns:a16="http://schemas.microsoft.com/office/drawing/2014/main" id="{A914DD59-7591-4E83-BF24-A30A913AE79F}"/>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38" name="Google Shape;38;p8">
            <a:extLst>
              <a:ext uri="{FF2B5EF4-FFF2-40B4-BE49-F238E27FC236}">
                <a16:creationId xmlns:a16="http://schemas.microsoft.com/office/drawing/2014/main" id="{E388BA8F-5124-4244-B2FD-47868318F014}"/>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9" name="Google Shape;39;p8">
            <a:extLst>
              <a:ext uri="{FF2B5EF4-FFF2-40B4-BE49-F238E27FC236}">
                <a16:creationId xmlns:a16="http://schemas.microsoft.com/office/drawing/2014/main" id="{25949E5E-BABF-4DA6-B13B-2C29D8693129}"/>
              </a:ext>
            </a:extLst>
          </p:cNvPr>
          <p:cNvSpPr>
            <a:spLocks noGrp="1"/>
          </p:cNvSpPr>
          <p:nvPr>
            <p:ph type="body" idx="1"/>
          </p:nvPr>
        </p:nvSpPr>
        <p:spPr>
          <a:xfrm>
            <a:off x="1385046"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0" name="Google Shape;40;p8">
            <a:extLst>
              <a:ext uri="{FF2B5EF4-FFF2-40B4-BE49-F238E27FC236}">
                <a16:creationId xmlns:a16="http://schemas.microsoft.com/office/drawing/2014/main" id="{64134552-AF91-4C82-B804-E6E8F763C40B}"/>
              </a:ext>
            </a:extLst>
          </p:cNvPr>
          <p:cNvSpPr>
            <a:spLocks noGrp="1"/>
          </p:cNvSpPr>
          <p:nvPr>
            <p:ph type="body" idx="2"/>
          </p:nvPr>
        </p:nvSpPr>
        <p:spPr>
          <a:xfrm>
            <a:off x="6719046"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
        <p:cNvGrpSpPr/>
        <p:nvPr/>
      </p:nvGrpSpPr>
      <p:grpSpPr>
        <a:xfrm>
          <a:off x="0" y="0"/>
          <a:ext cx="0" cy="0"/>
          <a:chOff x="0" y="0"/>
          <a:chExt cx="0" cy="0"/>
        </a:xfrm>
      </p:grpSpPr>
      <p:sp>
        <p:nvSpPr>
          <p:cNvPr id="42" name="Google Shape;42;p9">
            <a:extLst>
              <a:ext uri="{FF2B5EF4-FFF2-40B4-BE49-F238E27FC236}">
                <a16:creationId xmlns:a16="http://schemas.microsoft.com/office/drawing/2014/main" id="{5E6A46C5-B68D-4D66-B106-528A244AE516}"/>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43" name="Google Shape;43;p9">
            <a:extLst>
              <a:ext uri="{FF2B5EF4-FFF2-40B4-BE49-F238E27FC236}">
                <a16:creationId xmlns:a16="http://schemas.microsoft.com/office/drawing/2014/main" id="{D1696BB5-0E3A-4188-AB68-490F80C6508F}"/>
              </a:ext>
            </a:extLst>
          </p:cNvPr>
          <p:cNvSpPr>
            <a:spLocks noGrp="1"/>
          </p:cNvSpPr>
          <p:nvPr>
            <p:ph type="body" idx="1"/>
          </p:nvPr>
        </p:nvSpPr>
        <p:spPr>
          <a:xfrm>
            <a:off x="1390769" y="1681163"/>
            <a:ext cx="5157787"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44" name="Google Shape;44;p9">
            <a:extLst>
              <a:ext uri="{FF2B5EF4-FFF2-40B4-BE49-F238E27FC236}">
                <a16:creationId xmlns:a16="http://schemas.microsoft.com/office/drawing/2014/main" id="{EC72DDED-880B-4566-A658-7ED9545E48DC}"/>
              </a:ext>
            </a:extLst>
          </p:cNvPr>
          <p:cNvSpPr>
            <a:spLocks noGrp="1"/>
          </p:cNvSpPr>
          <p:nvPr>
            <p:ph type="body" idx="2"/>
          </p:nvPr>
        </p:nvSpPr>
        <p:spPr>
          <a:xfrm>
            <a:off x="1390769" y="2505075"/>
            <a:ext cx="5157787"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5" name="Google Shape;45;p9">
            <a:extLst>
              <a:ext uri="{FF2B5EF4-FFF2-40B4-BE49-F238E27FC236}">
                <a16:creationId xmlns:a16="http://schemas.microsoft.com/office/drawing/2014/main" id="{C89A6CDC-59BC-4616-8238-9C35E40AB761}"/>
              </a:ext>
            </a:extLst>
          </p:cNvPr>
          <p:cNvSpPr>
            <a:spLocks noGrp="1"/>
          </p:cNvSpPr>
          <p:nvPr>
            <p:ph type="body" idx="3"/>
          </p:nvPr>
        </p:nvSpPr>
        <p:spPr>
          <a:xfrm>
            <a:off x="6723181" y="1681163"/>
            <a:ext cx="5183188"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a:endParaRPr/>
          </a:p>
        </p:txBody>
      </p:sp>
      <p:sp>
        <p:nvSpPr>
          <p:cNvPr id="46" name="Google Shape;46;p9">
            <a:extLst>
              <a:ext uri="{FF2B5EF4-FFF2-40B4-BE49-F238E27FC236}">
                <a16:creationId xmlns:a16="http://schemas.microsoft.com/office/drawing/2014/main" id="{BE47A5E3-4FC4-46B0-8992-63A4DFA733D8}"/>
              </a:ext>
            </a:extLst>
          </p:cNvPr>
          <p:cNvSpPr>
            <a:spLocks noGrp="1"/>
          </p:cNvSpPr>
          <p:nvPr>
            <p:ph type="body" idx="4"/>
          </p:nvPr>
        </p:nvSpPr>
        <p:spPr>
          <a:xfrm>
            <a:off x="6723181" y="2505075"/>
            <a:ext cx="5183188"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
        <p:nvSpPr>
          <p:cNvPr id="47" name="Google Shape;47;p9">
            <a:extLst>
              <a:ext uri="{FF2B5EF4-FFF2-40B4-BE49-F238E27FC236}">
                <a16:creationId xmlns:a16="http://schemas.microsoft.com/office/drawing/2014/main" id="{D175598D-D033-4CE4-8297-37BB3E3CD0B0}"/>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
        <p:cNvGrpSpPr/>
        <p:nvPr/>
      </p:nvGrpSpPr>
      <p:grpSpPr>
        <a:xfrm>
          <a:off x="0" y="0"/>
          <a:ext cx="0" cy="0"/>
          <a:chOff x="0" y="0"/>
          <a:chExt cx="0" cy="0"/>
        </a:xfrm>
      </p:grpSpPr>
      <p:sp>
        <p:nvSpPr>
          <p:cNvPr id="49" name="Google Shape;49;p10">
            <a:extLst>
              <a:ext uri="{FF2B5EF4-FFF2-40B4-BE49-F238E27FC236}">
                <a16:creationId xmlns:a16="http://schemas.microsoft.com/office/drawing/2014/main" id="{4B0742ED-F6EA-4482-BCF7-3E149E7935B8}"/>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50" name="Google Shape;50;p10">
            <a:extLst>
              <a:ext uri="{FF2B5EF4-FFF2-40B4-BE49-F238E27FC236}">
                <a16:creationId xmlns:a16="http://schemas.microsoft.com/office/drawing/2014/main" id="{9BF85FED-383C-4C75-BA35-FAF2D80F0A89}"/>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
        <p:cNvGrpSpPr/>
        <p:nvPr/>
      </p:nvGrpSpPr>
      <p:grpSpPr>
        <a:xfrm>
          <a:off x="0" y="0"/>
          <a:ext cx="0" cy="0"/>
          <a:chOff x="0" y="0"/>
          <a:chExt cx="0" cy="0"/>
        </a:xfrm>
      </p:grpSpPr>
      <p:sp>
        <p:nvSpPr>
          <p:cNvPr id="52" name="Google Shape;52;p11">
            <a:extLst>
              <a:ext uri="{FF2B5EF4-FFF2-40B4-BE49-F238E27FC236}">
                <a16:creationId xmlns:a16="http://schemas.microsoft.com/office/drawing/2014/main" id="{43C1FCC2-9FFB-434D-9E6A-FA89E36A28D9}"/>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53" name="Google Shape;53;p11">
            <a:extLst>
              <a:ext uri="{FF2B5EF4-FFF2-40B4-BE49-F238E27FC236}">
                <a16:creationId xmlns:a16="http://schemas.microsoft.com/office/drawing/2014/main" id="{E78FE570-BAB2-4617-9A3F-C780DB39B518}"/>
              </a:ext>
            </a:extLst>
          </p:cNvPr>
          <p:cNvSpPr>
            <a:spLocks noGrp="1"/>
          </p:cNvSpPr>
          <p:nvPr>
            <p:ph type="title"/>
          </p:nvPr>
        </p:nvSpPr>
        <p:spPr>
          <a:xfrm>
            <a:off x="1425942" y="111368"/>
            <a:ext cx="3932237" cy="139504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4" name="Google Shape;54;p11">
            <a:extLst>
              <a:ext uri="{FF2B5EF4-FFF2-40B4-BE49-F238E27FC236}">
                <a16:creationId xmlns:a16="http://schemas.microsoft.com/office/drawing/2014/main" id="{2DBDC573-BEE1-463C-A336-646E4C4FCBEC}"/>
              </a:ext>
            </a:extLst>
          </p:cNvPr>
          <p:cNvSpPr>
            <a:spLocks noGrp="1"/>
          </p:cNvSpPr>
          <p:nvPr>
            <p:ph type="body" idx="1"/>
          </p:nvPr>
        </p:nvSpPr>
        <p:spPr>
          <a:xfrm>
            <a:off x="5769342" y="436440"/>
            <a:ext cx="6172200" cy="4873625"/>
          </a:xfrm>
          <a:prstGeom prst="rect">
            <a:avLst/>
          </a:prstGeom>
          <a:noFill/>
          <a:ln>
            <a:noFill/>
          </a:ln>
        </p:spPr>
        <p:txBody>
          <a:bodyPr spcFirstLastPara="1" wrap="square" lIns="91425" tIns="45700" rIns="91425" bIns="45700" anchor="t">
            <a:normAutofit/>
          </a:bodyPr>
          <a:lstStyle>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11">
            <a:extLst>
              <a:ext uri="{FF2B5EF4-FFF2-40B4-BE49-F238E27FC236}">
                <a16:creationId xmlns:a16="http://schemas.microsoft.com/office/drawing/2014/main" id="{CCD75E09-D803-48C6-95A9-7AB6EB849AF4}"/>
              </a:ext>
            </a:extLst>
          </p:cNvPr>
          <p:cNvSpPr>
            <a:spLocks noGrp="1"/>
          </p:cNvSpPr>
          <p:nvPr>
            <p:ph type="body" idx="2"/>
          </p:nvPr>
        </p:nvSpPr>
        <p:spPr>
          <a:xfrm>
            <a:off x="1425942" y="1523206"/>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
        <p:cNvGrpSpPr/>
        <p:nvPr/>
      </p:nvGrpSpPr>
      <p:grpSpPr>
        <a:xfrm>
          <a:off x="0" y="0"/>
          <a:ext cx="0" cy="0"/>
          <a:chOff x="0" y="0"/>
          <a:chExt cx="0" cy="0"/>
        </a:xfrm>
      </p:grpSpPr>
      <p:sp>
        <p:nvSpPr>
          <p:cNvPr id="57" name="Google Shape;57;p12">
            <a:extLst>
              <a:ext uri="{FF2B5EF4-FFF2-40B4-BE49-F238E27FC236}">
                <a16:creationId xmlns:a16="http://schemas.microsoft.com/office/drawing/2014/main" id="{77DAB282-3964-4F78-8F6A-B74CA5BF75DE}"/>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58" name="Google Shape;58;p12">
            <a:extLst>
              <a:ext uri="{FF2B5EF4-FFF2-40B4-BE49-F238E27FC236}">
                <a16:creationId xmlns:a16="http://schemas.microsoft.com/office/drawing/2014/main" id="{B1C40593-A31E-4557-A95C-EDC2D238A70A}"/>
              </a:ext>
            </a:extLst>
          </p:cNvPr>
          <p:cNvSpPr>
            <a:spLocks noGrp="1"/>
          </p:cNvSpPr>
          <p:nvPr>
            <p:ph type="pic" idx="2"/>
          </p:nvPr>
        </p:nvSpPr>
        <p:spPr>
          <a:xfrm>
            <a:off x="5524500" y="461169"/>
            <a:ext cx="6172200" cy="4873625"/>
          </a:xfrm>
          <a:prstGeom prst="rect">
            <a:avLst/>
          </a:prstGeom>
          <a:noFill/>
          <a:ln>
            <a:noFill/>
          </a:ln>
        </p:spPr>
      </p:sp>
      <p:sp>
        <p:nvSpPr>
          <p:cNvPr id="59" name="Google Shape;59;p12">
            <a:extLst>
              <a:ext uri="{FF2B5EF4-FFF2-40B4-BE49-F238E27FC236}">
                <a16:creationId xmlns:a16="http://schemas.microsoft.com/office/drawing/2014/main" id="{5B6AFC08-9746-45C4-9DB1-5D3864B2B9E5}"/>
              </a:ext>
            </a:extLst>
          </p:cNvPr>
          <p:cNvSpPr>
            <a:spLocks noGrp="1"/>
          </p:cNvSpPr>
          <p:nvPr>
            <p:ph type="title"/>
          </p:nvPr>
        </p:nvSpPr>
        <p:spPr>
          <a:xfrm>
            <a:off x="1425942" y="111368"/>
            <a:ext cx="3932237" cy="139504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dk1"/>
              </a:buClr>
              <a:buSzPts val="3200"/>
              <a:buFont typeface="Calibri"/>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12">
            <a:extLst>
              <a:ext uri="{FF2B5EF4-FFF2-40B4-BE49-F238E27FC236}">
                <a16:creationId xmlns:a16="http://schemas.microsoft.com/office/drawing/2014/main" id="{329E8377-5617-48E5-B297-77C3DCC1315A}"/>
              </a:ext>
            </a:extLst>
          </p:cNvPr>
          <p:cNvSpPr>
            <a:spLocks noGrp="1"/>
          </p:cNvSpPr>
          <p:nvPr>
            <p:ph type="body" idx="1"/>
          </p:nvPr>
        </p:nvSpPr>
        <p:spPr>
          <a:xfrm>
            <a:off x="1425942" y="1523206"/>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
        <p:cNvGrpSpPr/>
        <p:nvPr/>
      </p:nvGrpSpPr>
      <p:grpSpPr>
        <a:xfrm>
          <a:off x="0" y="0"/>
          <a:ext cx="0" cy="0"/>
          <a:chOff x="0" y="0"/>
          <a:chExt cx="0" cy="0"/>
        </a:xfrm>
      </p:grpSpPr>
      <p:sp>
        <p:nvSpPr>
          <p:cNvPr id="62" name="Google Shape;62;p13">
            <a:extLst>
              <a:ext uri="{FF2B5EF4-FFF2-40B4-BE49-F238E27FC236}">
                <a16:creationId xmlns:a16="http://schemas.microsoft.com/office/drawing/2014/main" id="{4CBDF420-F23C-4C25-AFC7-066A0DAEC177}"/>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63" name="Google Shape;63;p13">
            <a:extLst>
              <a:ext uri="{FF2B5EF4-FFF2-40B4-BE49-F238E27FC236}">
                <a16:creationId xmlns:a16="http://schemas.microsoft.com/office/drawing/2014/main" id="{43354CE0-6BB1-499D-9A5D-E8EA0AB537F4}"/>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4" name="Google Shape;64;p13">
            <a:extLst>
              <a:ext uri="{FF2B5EF4-FFF2-40B4-BE49-F238E27FC236}">
                <a16:creationId xmlns:a16="http://schemas.microsoft.com/office/drawing/2014/main" id="{EA756745-D98C-46C3-A802-F2C1D58FF36E}"/>
              </a:ext>
            </a:extLst>
          </p:cNvPr>
          <p:cNvSpPr>
            <a:spLocks noGrp="1"/>
          </p:cNvSpPr>
          <p:nvPr>
            <p:ph type="body" idx="1"/>
          </p:nvPr>
        </p:nvSpPr>
        <p:spPr>
          <a:xfrm rot="-5400000">
            <a:off x="4811568" y="-1715335"/>
            <a:ext cx="3115711" cy="9968754"/>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
        <p:cNvGrpSpPr/>
        <p:nvPr/>
      </p:nvGrpSpPr>
      <p:grpSpPr>
        <a:xfrm>
          <a:off x="0" y="0"/>
          <a:ext cx="0" cy="0"/>
          <a:chOff x="0" y="0"/>
          <a:chExt cx="0" cy="0"/>
        </a:xfrm>
      </p:grpSpPr>
      <p:sp>
        <p:nvSpPr>
          <p:cNvPr id="66" name="Google Shape;66;p14">
            <a:extLst>
              <a:ext uri="{FF2B5EF4-FFF2-40B4-BE49-F238E27FC236}">
                <a16:creationId xmlns:a16="http://schemas.microsoft.com/office/drawing/2014/main" id="{FBF48C18-EA57-4616-A836-882DECCC9A6D}"/>
              </a:ext>
            </a:extLst>
          </p:cNvPr>
          <p:cNvSpPr>
            <a:spLocks noGrp="1"/>
          </p:cNvSpPr>
          <p:nvPr>
            <p:ph type="sldNum" idx="12"/>
          </p:nvPr>
        </p:nvSpPr>
        <p:spPr>
          <a:xfrm>
            <a:off x="3626222"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lt1"/>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67" name="Google Shape;67;p14">
            <a:extLst>
              <a:ext uri="{FF2B5EF4-FFF2-40B4-BE49-F238E27FC236}">
                <a16:creationId xmlns:a16="http://schemas.microsoft.com/office/drawing/2014/main" id="{56A89D7A-D585-4CD3-A6A9-0FEB646AA077}"/>
              </a:ext>
            </a:extLst>
          </p:cNvPr>
          <p:cNvSpPr>
            <a:spLocks noGrp="1"/>
          </p:cNvSpPr>
          <p:nvPr>
            <p:ph type="title"/>
          </p:nvPr>
        </p:nvSpPr>
        <p:spPr>
          <a:xfrm rot="-5400000">
            <a:off x="-349050" y="1956594"/>
            <a:ext cx="5811838" cy="26289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8" name="Google Shape;68;p14">
            <a:extLst>
              <a:ext uri="{FF2B5EF4-FFF2-40B4-BE49-F238E27FC236}">
                <a16:creationId xmlns:a16="http://schemas.microsoft.com/office/drawing/2014/main" id="{72DB2B30-C432-4B03-85C2-F0FB35CA30FE}"/>
              </a:ext>
            </a:extLst>
          </p:cNvPr>
          <p:cNvSpPr>
            <a:spLocks noGrp="1"/>
          </p:cNvSpPr>
          <p:nvPr>
            <p:ph type="body" idx="1"/>
          </p:nvPr>
        </p:nvSpPr>
        <p:spPr>
          <a:xfrm rot="-5400000">
            <a:off x="4995118" y="-596106"/>
            <a:ext cx="5811838" cy="77343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5" name="Google Shape;10;p3"/>
          <p:cNvPicPr>
            <a:picLocks noChangeAspect="1"/>
          </p:cNvPicPr>
          <p:nvPr/>
        </p:nvPicPr>
        <p:blipFill rotWithShape="1">
          <a:blip r:embed="rId13">
            <a:alphaModFix/>
          </a:blip>
          <a:srcRect/>
          <a:stretch/>
        </p:blipFill>
        <p:spPr>
          <a:xfrm>
            <a:off x="8895" y="-13238"/>
            <a:ext cx="12187064" cy="6855223"/>
          </a:xfrm>
          <a:prstGeom prst="rect">
            <a:avLst/>
          </a:prstGeom>
          <a:ln>
            <a:noFill/>
          </a:ln>
        </p:spPr>
      </p:pic>
      <p:pic>
        <p:nvPicPr>
          <p:cNvPr id="26" name="Google Shape;11;p3"/>
          <p:cNvPicPr>
            <a:picLocks noChangeAspect="1"/>
          </p:cNvPicPr>
          <p:nvPr/>
        </p:nvPicPr>
        <p:blipFill rotWithShape="1">
          <a:blip r:embed="rId14">
            <a:alphaModFix/>
          </a:blip>
          <a:srcRect/>
          <a:stretch/>
        </p:blipFill>
        <p:spPr>
          <a:xfrm>
            <a:off x="-5767" y="-26076"/>
            <a:ext cx="1427426" cy="6851644"/>
          </a:xfrm>
          <a:prstGeom prst="rect">
            <a:avLst/>
          </a:prstGeom>
          <a:ln>
            <a:noFill/>
          </a:ln>
        </p:spPr>
      </p:pic>
      <p:sp>
        <p:nvSpPr>
          <p:cNvPr id="12" name="Google Shape;12;p3">
            <a:extLst>
              <a:ext uri="{FF2B5EF4-FFF2-40B4-BE49-F238E27FC236}">
                <a16:creationId xmlns:a16="http://schemas.microsoft.com/office/drawing/2014/main" id="{F6A8F516-A0DF-46E8-9108-AD005596D6AA}"/>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a:endParaRPr/>
          </a:p>
        </p:txBody>
      </p:sp>
      <p:sp>
        <p:nvSpPr>
          <p:cNvPr id="13" name="Google Shape;13;p3">
            <a:extLst>
              <a:ext uri="{FF2B5EF4-FFF2-40B4-BE49-F238E27FC236}">
                <a16:creationId xmlns:a16="http://schemas.microsoft.com/office/drawing/2014/main" id="{6F84ED30-7A2F-432A-9E30-9893322D62DA}"/>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alibri"/>
                <a:ea typeface="Calibri"/>
                <a:cs typeface="Calibri"/>
              </a:defRPr>
            </a:lvl9pPr>
          </a:lstStyle>
          <a:p>
            <a:endParaRPr/>
          </a:p>
        </p:txBody>
      </p:sp>
      <p:sp>
        <p:nvSpPr>
          <p:cNvPr id="14" name="Google Shape;14;p3">
            <a:extLst>
              <a:ext uri="{FF2B5EF4-FFF2-40B4-BE49-F238E27FC236}">
                <a16:creationId xmlns:a16="http://schemas.microsoft.com/office/drawing/2014/main" id="{3F9CE239-E2EA-4EC7-8F0A-BFFE22E6E2AB}"/>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
        <p:nvSpPr>
          <p:cNvPr id="15" name="Google Shape;15;p3">
            <a:extLst>
              <a:ext uri="{FF2B5EF4-FFF2-40B4-BE49-F238E27FC236}">
                <a16:creationId xmlns:a16="http://schemas.microsoft.com/office/drawing/2014/main" id="{737A7C4C-27BC-4E28-A6F5-11C59C07EB05}"/>
              </a:ext>
            </a:extLst>
          </p:cNvPr>
          <p:cNvSpPr>
            <a:spLocks noGrp="1"/>
          </p:cNvSpPr>
          <p:nvPr/>
        </p:nvSpPr>
        <p:spPr>
          <a:xfrm>
            <a:off x="0" y="6356350"/>
            <a:ext cx="12192000" cy="501650"/>
          </a:xfrm>
          <a:prstGeom prst="rect">
            <a:avLst/>
          </a:prstGeom>
          <a:solidFill>
            <a:schemeClr val="accent3"/>
          </a:solidFill>
          <a:ln w="12700" cmpd="sng">
            <a:solidFill>
              <a:srgbClr val="A1A1A1"/>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Clr>
                <a:srgbClr val="000000"/>
              </a:buClr>
              <a:buSzPts val="1800"/>
              <a:buFont typeface="Arial"/>
              <a:buNone/>
            </a:pPr>
            <a:endParaRPr sz="1800" b="0" i="0" u="none" cap="none">
              <a:solidFill>
                <a:schemeClr val="lt1"/>
              </a:solidFill>
              <a:latin typeface="Calibri"/>
              <a:ea typeface="Calibri"/>
              <a:cs typeface="Calibri"/>
            </a:endParaRPr>
          </a:p>
        </p:txBody>
      </p:sp>
      <p:pic>
        <p:nvPicPr>
          <p:cNvPr id="31" name="Google Shape;16;p3"/>
          <p:cNvPicPr>
            <a:picLocks noChangeAspect="1"/>
          </p:cNvPicPr>
          <p:nvPr/>
        </p:nvPicPr>
        <p:blipFill rotWithShape="1">
          <a:blip r:embed="rId15">
            <a:alphaModFix/>
          </a:blip>
          <a:srcRect/>
          <a:stretch/>
        </p:blipFill>
        <p:spPr>
          <a:xfrm>
            <a:off x="8849565" y="6463058"/>
            <a:ext cx="2961435" cy="295275"/>
          </a:xfrm>
          <a:prstGeom prst="rect">
            <a:avLst/>
          </a:prstGeom>
          <a:ln>
            <a:noFill/>
          </a:ln>
        </p:spPr>
      </p:pic>
      <p:sp>
        <p:nvSpPr>
          <p:cNvPr id="17" name="Google Shape;17;p3">
            <a:extLst>
              <a:ext uri="{FF2B5EF4-FFF2-40B4-BE49-F238E27FC236}">
                <a16:creationId xmlns:a16="http://schemas.microsoft.com/office/drawing/2014/main" id="{24374DC7-3AC7-47A1-9D85-E017D8974069}"/>
              </a:ext>
            </a:extLst>
          </p:cNvPr>
          <p:cNvSpPr>
            <a:spLocks noGrp="1"/>
          </p:cNvSpPr>
          <p:nvPr/>
        </p:nvSpPr>
        <p:spPr>
          <a:xfrm>
            <a:off x="2309446" y="-369332"/>
            <a:ext cx="184731" cy="369332"/>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800"/>
              <a:buFont typeface="Arial"/>
              <a:buNone/>
            </a:pPr>
            <a:endParaRPr sz="1800" b="0" i="0" u="none" cap="none">
              <a:solidFill>
                <a:schemeClr val="dk1"/>
              </a:solidFill>
              <a:latin typeface="Calibri"/>
              <a:ea typeface="Calibri"/>
              <a:cs typeface="Calibri"/>
            </a:endParaRPr>
          </a:p>
        </p:txBody>
      </p:sp>
      <p:sp>
        <p:nvSpPr>
          <p:cNvPr id="18" name="Google Shape;18;p3">
            <a:extLst>
              <a:ext uri="{FF2B5EF4-FFF2-40B4-BE49-F238E27FC236}">
                <a16:creationId xmlns:a16="http://schemas.microsoft.com/office/drawing/2014/main" id="{15025DAA-82E3-4BA9-B514-D9A2BB0BF71C}"/>
              </a:ext>
            </a:extLst>
          </p:cNvPr>
          <p:cNvSpPr>
            <a:spLocks noGrp="1"/>
          </p:cNvSpPr>
          <p:nvPr/>
        </p:nvSpPr>
        <p:spPr>
          <a:xfrm>
            <a:off x="3364523" y="-398585"/>
            <a:ext cx="184731" cy="369332"/>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Clr>
                <a:srgbClr val="000000"/>
              </a:buClr>
              <a:buSzPts val="1800"/>
              <a:buFont typeface="Arial"/>
              <a:buNone/>
            </a:pPr>
            <a:endParaRPr sz="1800" b="0" i="0" u="none" cap="none">
              <a:solidFill>
                <a:schemeClr val="dk1"/>
              </a:solidFill>
              <a:latin typeface="Calibri"/>
              <a:ea typeface="Calibri"/>
              <a:cs typeface="Calibri"/>
            </a:endParaRPr>
          </a:p>
        </p:txBody>
      </p:sp>
      <p:sp>
        <p:nvSpPr>
          <p:cNvPr id="19" name="Google Shape;19;p3">
            <a:extLst>
              <a:ext uri="{FF2B5EF4-FFF2-40B4-BE49-F238E27FC236}">
                <a16:creationId xmlns:a16="http://schemas.microsoft.com/office/drawing/2014/main" id="{8D2FF2BF-9879-440F-9239-9243EDA39972}"/>
              </a:ext>
            </a:extLst>
          </p:cNvPr>
          <p:cNvSpPr>
            <a:spLocks noGrp="1"/>
          </p:cNvSpPr>
          <p:nvPr>
            <p:ph type="title"/>
          </p:nvPr>
        </p:nvSpPr>
        <p:spPr>
          <a:xfrm>
            <a:off x="1385046" y="115144"/>
            <a:ext cx="9968753" cy="1325563"/>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dk1"/>
              </a:buClr>
              <a:buSzPts val="4400"/>
              <a:buFont typeface="Calibri"/>
              <a:buNone/>
              <a:defRPr sz="4400" b="1"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endParaRPr/>
          </a:p>
        </p:txBody>
      </p:sp>
      <p:sp>
        <p:nvSpPr>
          <p:cNvPr id="20" name="Google Shape;20;p3">
            <a:extLst>
              <a:ext uri="{FF2B5EF4-FFF2-40B4-BE49-F238E27FC236}">
                <a16:creationId xmlns:a16="http://schemas.microsoft.com/office/drawing/2014/main" id="{A4AF8A62-FF65-47D4-AA6C-55896E845D6E}"/>
              </a:ext>
            </a:extLst>
          </p:cNvPr>
          <p:cNvSpPr>
            <a:spLocks noGrp="1"/>
          </p:cNvSpPr>
          <p:nvPr>
            <p:ph type="body" idx="1"/>
          </p:nvPr>
        </p:nvSpPr>
        <p:spPr>
          <a:xfrm>
            <a:off x="1385046" y="1711187"/>
            <a:ext cx="9968754" cy="3115711"/>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a:buChar char="•"/>
              <a:defRPr sz="2800" b="0" i="0" u="none" cap="none">
                <a:solidFill>
                  <a:schemeClr val="dk1"/>
                </a:solidFill>
                <a:latin typeface="Calibri"/>
                <a:ea typeface="Calibri"/>
                <a:cs typeface="Calibri"/>
              </a:defRPr>
            </a:lvl1pPr>
            <a:lvl2pPr marL="914400" marR="0" indent="-381000" algn="l">
              <a:lnSpc>
                <a:spcPct val="90000"/>
              </a:lnSpc>
              <a:spcBef>
                <a:spcPts val="500"/>
              </a:spcBef>
              <a:spcAft>
                <a:spcPts val="0"/>
              </a:spcAft>
              <a:buClr>
                <a:schemeClr val="dk1"/>
              </a:buClr>
              <a:buSzPts val="2400"/>
              <a:buFont typeface="Arial"/>
              <a:buChar char="•"/>
              <a:defRPr sz="2400" b="0" i="0" u="none" cap="none">
                <a:solidFill>
                  <a:schemeClr val="dk1"/>
                </a:solidFill>
                <a:latin typeface="Calibri"/>
                <a:ea typeface="Calibri"/>
                <a:cs typeface="Calibri"/>
              </a:defRPr>
            </a:lvl2pPr>
            <a:lvl3pPr marL="1371600" marR="0" indent="-355600" algn="l">
              <a:lnSpc>
                <a:spcPct val="90000"/>
              </a:lnSpc>
              <a:spcBef>
                <a:spcPts val="500"/>
              </a:spcBef>
              <a:spcAft>
                <a:spcPts val="0"/>
              </a:spcAft>
              <a:buClr>
                <a:schemeClr val="dk1"/>
              </a:buClr>
              <a:buSzPts val="2000"/>
              <a:buFont typeface="Arial"/>
              <a:buChar char="•"/>
              <a:defRPr sz="2000" b="0" i="0" u="none" cap="none">
                <a:solidFill>
                  <a:schemeClr val="dk1"/>
                </a:solidFill>
                <a:latin typeface="Calibri"/>
                <a:ea typeface="Calibri"/>
                <a:cs typeface="Calibri"/>
              </a:defRPr>
            </a:lvl3pPr>
            <a:lvl4pPr marL="1828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4pPr>
            <a:lvl5pPr marL="22860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5pPr>
            <a:lvl6pPr marL="27432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6pPr>
            <a:lvl7pPr marL="32004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7pPr>
            <a:lvl8pPr marL="36576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8pPr>
            <a:lvl9pPr marL="4114800" marR="0" indent="-342900" algn="l">
              <a:lnSpc>
                <a:spcPct val="90000"/>
              </a:lnSpc>
              <a:spcBef>
                <a:spcPts val="500"/>
              </a:spcBef>
              <a:spcAft>
                <a:spcPts val="0"/>
              </a:spcAft>
              <a:buClr>
                <a:schemeClr val="dk1"/>
              </a:buClr>
              <a:buSzPts val="1800"/>
              <a:buFont typeface="Arial"/>
              <a:buChar char="•"/>
              <a:defRPr sz="1800" b="0" i="0" u="none" cap="none">
                <a:solidFill>
                  <a:schemeClr val="dk1"/>
                </a:solidFill>
                <a:latin typeface="Calibri"/>
                <a:ea typeface="Calibri"/>
                <a:cs typeface="Calibri"/>
              </a:defRPr>
            </a:lvl9pPr>
          </a:lstStyle>
          <a:p>
            <a:endParaRPr/>
          </a:p>
        </p:txBody>
      </p:sp>
      <p:pic>
        <p:nvPicPr>
          <p:cNvPr id="36" name="Google Shape;21;p3"/>
          <p:cNvPicPr>
            <a:picLocks noChangeAspect="1"/>
          </p:cNvPicPr>
          <p:nvPr/>
        </p:nvPicPr>
        <p:blipFill rotWithShape="1">
          <a:blip r:embed="rId16">
            <a:alphaModFix/>
          </a:blip>
          <a:srcRect/>
          <a:stretch/>
        </p:blipFill>
        <p:spPr>
          <a:xfrm>
            <a:off x="241300" y="6365874"/>
            <a:ext cx="793750" cy="476249"/>
          </a:xfrm>
          <a:prstGeom prst="rect">
            <a:avLst/>
          </a:prstGeom>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gif"/><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Google Shape;74;p15">
            <a:extLst>
              <a:ext uri="{FF2B5EF4-FFF2-40B4-BE49-F238E27FC236}">
                <a16:creationId xmlns:a16="http://schemas.microsoft.com/office/drawing/2014/main" id="{5B31CBAE-14B2-46DD-97C7-84E251E34148}"/>
              </a:ext>
            </a:extLst>
          </p:cNvPr>
          <p:cNvSpPr>
            <a:spLocks noGrp="1"/>
          </p:cNvSpPr>
          <p:nvPr/>
        </p:nvSpPr>
        <p:spPr>
          <a:xfrm>
            <a:off x="1253110" y="-11608"/>
            <a:ext cx="10938889" cy="6366688"/>
          </a:xfrm>
          <a:prstGeom prst="rect">
            <a:avLst/>
          </a:prstGeom>
          <a:solidFill>
            <a:schemeClr val="lt1"/>
          </a:solidFill>
          <a:ln>
            <a:noFill/>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endParaRPr sz="1400" b="0" i="0" u="none" cap="none">
              <a:solidFill>
                <a:schemeClr val="dk1"/>
              </a:solidFill>
              <a:latin typeface="Arial"/>
              <a:ea typeface="Arial"/>
              <a:cs typeface="Arial"/>
            </a:endParaRPr>
          </a:p>
        </p:txBody>
      </p:sp>
      <p:pic>
        <p:nvPicPr>
          <p:cNvPr id="87" name="Google Shape;75;p15"/>
          <p:cNvPicPr>
            <a:picLocks noChangeAspect="1"/>
          </p:cNvPicPr>
          <p:nvPr/>
        </p:nvPicPr>
        <p:blipFill rotWithShape="1">
          <a:blip r:embed="rId3">
            <a:alphaModFix/>
          </a:blip>
          <a:srcRect/>
          <a:stretch/>
        </p:blipFill>
        <p:spPr>
          <a:xfrm>
            <a:off x="1243966" y="0"/>
            <a:ext cx="3291840" cy="850392"/>
          </a:xfrm>
          <a:prstGeom prst="rect">
            <a:avLst/>
          </a:prstGeom>
          <a:ln>
            <a:noFill/>
          </a:ln>
        </p:spPr>
      </p:pic>
      <p:pic>
        <p:nvPicPr>
          <p:cNvPr id="88" name="Google Shape;76;p15"/>
          <p:cNvPicPr>
            <a:picLocks noChangeAspect="1"/>
          </p:cNvPicPr>
          <p:nvPr/>
        </p:nvPicPr>
        <p:blipFill rotWithShape="1">
          <a:blip r:embed="rId4">
            <a:alphaModFix/>
          </a:blip>
          <a:srcRect t="11449" b="24267"/>
          <a:stretch/>
        </p:blipFill>
        <p:spPr>
          <a:xfrm>
            <a:off x="9191175" y="0"/>
            <a:ext cx="3000824" cy="1007625"/>
          </a:xfrm>
          <a:prstGeom prst="rect">
            <a:avLst/>
          </a:prstGeom>
          <a:ln>
            <a:noFill/>
          </a:ln>
        </p:spPr>
      </p:pic>
      <p:pic>
        <p:nvPicPr>
          <p:cNvPr id="89" name="Google Shape;77;p15"/>
          <p:cNvPicPr>
            <a:picLocks noChangeAspect="1"/>
          </p:cNvPicPr>
          <p:nvPr/>
        </p:nvPicPr>
        <p:blipFill rotWithShape="1">
          <a:blip r:embed="rId5">
            <a:alphaModFix/>
          </a:blip>
          <a:srcRect/>
          <a:stretch/>
        </p:blipFill>
        <p:spPr>
          <a:xfrm>
            <a:off x="0" y="6457950"/>
            <a:ext cx="12191999" cy="469353"/>
          </a:xfrm>
          <a:prstGeom prst="rect">
            <a:avLst/>
          </a:prstGeom>
          <a:ln>
            <a:noFill/>
          </a:ln>
        </p:spPr>
      </p:pic>
      <p:sp>
        <p:nvSpPr>
          <p:cNvPr id="78" name="Google Shape;78;p15">
            <a:extLst>
              <a:ext uri="{FF2B5EF4-FFF2-40B4-BE49-F238E27FC236}">
                <a16:creationId xmlns:a16="http://schemas.microsoft.com/office/drawing/2014/main" id="{D0C8F577-7B84-4A2A-819B-C10996F41201}"/>
              </a:ext>
            </a:extLst>
          </p:cNvPr>
          <p:cNvSpPr>
            <a:spLocks noGrp="1"/>
          </p:cNvSpPr>
          <p:nvPr/>
        </p:nvSpPr>
        <p:spPr>
          <a:xfrm>
            <a:off x="1627925" y="1433750"/>
            <a:ext cx="9949800" cy="1431900"/>
          </a:xfrm>
          <a:prstGeom prst="rect">
            <a:avLst/>
          </a:prstGeom>
          <a:noFill/>
          <a:ln>
            <a:noFill/>
          </a:ln>
        </p:spPr>
        <p:txBody>
          <a:bodyPr spcFirstLastPara="1" wrap="square" lIns="91425" tIns="91425" rIns="91425" bIns="91425" anchor="t">
            <a:noAutofit/>
          </a:bodyPr>
          <a:lstStyle/>
          <a:p>
            <a:pPr marL="0" marR="0" lvl="0" indent="0" algn="ctr">
              <a:lnSpc>
                <a:spcPct val="100000"/>
              </a:lnSpc>
              <a:spcBef>
                <a:spcPts val="0"/>
              </a:spcBef>
              <a:spcAft>
                <a:spcPts val="0"/>
              </a:spcAft>
              <a:buClr>
                <a:srgbClr val="000000"/>
              </a:buClr>
              <a:buSzPts val="4100"/>
              <a:buFont typeface="Arial"/>
              <a:buNone/>
            </a:pPr>
            <a:r>
              <a:rPr sz="4100" b="1" i="0" u="none" cap="none">
                <a:solidFill>
                  <a:schemeClr val="dk1"/>
                </a:solidFill>
                <a:latin typeface="Georgia"/>
                <a:ea typeface="Georgia"/>
                <a:cs typeface="Georgia"/>
              </a:rPr>
              <a:t>Grounded CAD: Natural-Language Editing of STEP Models</a:t>
            </a:r>
          </a:p>
        </p:txBody>
      </p:sp>
      <p:sp>
        <p:nvSpPr>
          <p:cNvPr id="79" name="Google Shape;79;p15">
            <a:extLst>
              <a:ext uri="{FF2B5EF4-FFF2-40B4-BE49-F238E27FC236}">
                <a16:creationId xmlns:a16="http://schemas.microsoft.com/office/drawing/2014/main" id="{E3A68D4C-B0CE-4663-9E34-CAF0EE63E63B}"/>
              </a:ext>
            </a:extLst>
          </p:cNvPr>
          <p:cNvSpPr>
            <a:spLocks noGrp="1"/>
          </p:cNvSpPr>
          <p:nvPr/>
        </p:nvSpPr>
        <p:spPr>
          <a:xfrm>
            <a:off x="4718675" y="2828475"/>
            <a:ext cx="3768300" cy="580500"/>
          </a:xfrm>
          <a:prstGeom prst="rect">
            <a:avLst/>
          </a:prstGeom>
          <a:noFill/>
          <a:ln>
            <a:noFill/>
          </a:ln>
        </p:spPr>
        <p:txBody>
          <a:bodyPr spcFirstLastPara="1" wrap="square" lIns="91425" tIns="91425" rIns="91425" bIns="91425" anchor="t">
            <a:noAutofit/>
          </a:bodyPr>
          <a:lstStyle/>
          <a:p>
            <a:pPr marL="0" marR="0" lvl="0" indent="0" algn="l">
              <a:lnSpc>
                <a:spcPct val="100000"/>
              </a:lnSpc>
              <a:spcBef>
                <a:spcPts val="0"/>
              </a:spcBef>
              <a:spcAft>
                <a:spcPts val="0"/>
              </a:spcAft>
              <a:buClr>
                <a:srgbClr val="000000"/>
              </a:buClr>
              <a:buSzPts val="2800"/>
              <a:buFont typeface="Arial"/>
              <a:buNone/>
            </a:pPr>
            <a:r>
              <a:rPr sz="2800" b="1" i="0" u="none" cap="none">
                <a:solidFill>
                  <a:schemeClr val="dk1"/>
                </a:solidFill>
                <a:latin typeface="Georgia"/>
                <a:ea typeface="Georgia"/>
                <a:cs typeface="Georgia"/>
              </a:rPr>
              <a:t>Team: Night_Owls</a:t>
            </a:r>
            <a:endParaRPr sz="2800" b="0" i="0" u="none" cap="none">
              <a:solidFill>
                <a:schemeClr val="dk1"/>
              </a:solidFill>
              <a:latin typeface="Georgia"/>
              <a:ea typeface="Georgia"/>
              <a:cs typeface="Georgia"/>
            </a:endParaRPr>
          </a:p>
        </p:txBody>
      </p:sp>
      <p:sp>
        <p:nvSpPr>
          <p:cNvPr id="80" name="Google Shape;80;p15">
            <a:extLst>
              <a:ext uri="{FF2B5EF4-FFF2-40B4-BE49-F238E27FC236}">
                <a16:creationId xmlns:a16="http://schemas.microsoft.com/office/drawing/2014/main" id="{B0B42142-53EC-401F-B000-039501780719}"/>
              </a:ext>
            </a:extLst>
          </p:cNvPr>
          <p:cNvSpPr>
            <a:spLocks noGrp="1"/>
          </p:cNvSpPr>
          <p:nvPr/>
        </p:nvSpPr>
        <p:spPr>
          <a:xfrm>
            <a:off x="1027297" y="3683278"/>
            <a:ext cx="5596200" cy="1689600"/>
          </a:xfrm>
          <a:prstGeom prst="rect">
            <a:avLst/>
          </a:prstGeom>
          <a:noFill/>
          <a:ln>
            <a:noFill/>
          </a:ln>
        </p:spPr>
        <p:txBody>
          <a:bodyPr spcFirstLastPara="1" wrap="square" lIns="91425" tIns="91425" rIns="91425" bIns="91425" anchor="t">
            <a:noAutofit/>
          </a:bodyPr>
          <a:lstStyle/>
          <a:p>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Reiki Tanaya Karuka</a:t>
            </a:r>
          </a:p>
          <a:p>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Mechanical engineering</a:t>
            </a:r>
          </a:p>
          <a:p>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rkaruka@mtu.edu </a:t>
            </a:r>
            <a:r>
              <a:rPr sz="2100" b="0" i="0" u="none" cap="none">
                <a:solidFill>
                  <a:schemeClr val="dk1"/>
                </a:solidFill>
                <a:latin typeface="Georgia"/>
                <a:ea typeface="Georgia"/>
                <a:cs typeface="Georgia"/>
              </a:rPr>
              <a:t>   </a:t>
            </a:r>
          </a:p>
        </p:txBody>
      </p:sp>
      <p:sp>
        <p:nvSpPr>
          <p:cNvPr id="81" name="Google Shape;81;p15">
            <a:extLst>
              <a:ext uri="{FF2B5EF4-FFF2-40B4-BE49-F238E27FC236}">
                <a16:creationId xmlns:a16="http://schemas.microsoft.com/office/drawing/2014/main" id="{825390EE-8D26-4B9F-B4C4-638AA3F7EDC2}"/>
              </a:ext>
            </a:extLst>
          </p:cNvPr>
          <p:cNvSpPr>
            <a:spLocks noGrp="1"/>
          </p:cNvSpPr>
          <p:nvPr/>
        </p:nvSpPr>
        <p:spPr>
          <a:xfrm>
            <a:off x="6392925" y="3683288"/>
            <a:ext cx="5596200" cy="1689600"/>
          </a:xfrm>
          <a:prstGeom prst="rect">
            <a:avLst/>
          </a:prstGeom>
          <a:noFill/>
          <a:ln>
            <a:noFill/>
          </a:ln>
        </p:spPr>
        <p:txBody>
          <a:bodyPr spcFirstLastPara="1" wrap="square" lIns="91425" tIns="91425" rIns="91425" bIns="91425" anchor="t">
            <a:noAutofit/>
          </a:bodyPr>
          <a:lstStyle/>
          <a:p>
            <a:pPr marL="0" marR="0" lvl="0" indent="0" algn="ctr">
              <a:lnSpc>
                <a:spcPct val="100000"/>
              </a:lnSpc>
              <a:spcBef>
                <a:spcPts val="0"/>
              </a:spcBef>
              <a:spcAft>
                <a:spcPts val="0"/>
              </a:spcAft>
              <a:buClr>
                <a:srgbClr val="000000"/>
              </a:buClr>
              <a:buSzPts val="2100"/>
              <a:buFont typeface="Arial"/>
              <a:buNone/>
            </a:pPr>
            <a:r>
              <a:rPr sz="2100" b="1" i="0" u="none" cap="none">
                <a:solidFill>
                  <a:schemeClr val="dk1"/>
                </a:solidFill>
                <a:latin typeface="Arial"/>
                <a:ea typeface="Arial"/>
                <a:cs typeface="Arial"/>
              </a:rPr>
              <a:t>Lenin Goud</a:t>
            </a:r>
          </a:p>
          <a:p>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Department of Computer Science</a:t>
            </a:r>
          </a:p>
          <a:p>
            <a:pPr marL="0" marR="0" lvl="0" indent="0" algn="ctr">
              <a:lnSpc>
                <a:spcPct val="100000"/>
              </a:lnSpc>
              <a:spcBef>
                <a:spcPts val="0"/>
              </a:spcBef>
              <a:spcAft>
                <a:spcPts val="0"/>
              </a:spcAft>
              <a:buClr>
                <a:srgbClr val="000000"/>
              </a:buClr>
              <a:buSzPts val="2100"/>
              <a:buFont typeface="Arial"/>
              <a:buNone/>
            </a:pPr>
            <a:r>
              <a:rPr sz="2100" b="0" i="0" u="none" cap="none">
                <a:solidFill>
                  <a:schemeClr val="dk1"/>
                </a:solidFill>
                <a:latin typeface="Arial"/>
                <a:ea typeface="Arial"/>
                <a:cs typeface="Arial"/>
              </a:rPr>
              <a:t>Lathikam@mtu.edu</a:t>
            </a:r>
          </a:p>
        </p:txBody>
      </p:sp>
      <p:sp>
        <p:nvSpPr>
          <p:cNvPr id="82" name="Google Shape;82;p15">
            <a:extLst>
              <a:ext uri="{FF2B5EF4-FFF2-40B4-BE49-F238E27FC236}">
                <a16:creationId xmlns:a16="http://schemas.microsoft.com/office/drawing/2014/main" id="{9B72435F-5741-4D3B-B3AA-901FE64C3551}"/>
              </a:ext>
            </a:extLst>
          </p:cNvPr>
          <p:cNvSpPr>
            <a:spLocks noGrp="1"/>
          </p:cNvSpPr>
          <p:nvPr/>
        </p:nvSpPr>
        <p:spPr>
          <a:xfrm>
            <a:off x="4586525" y="5089625"/>
            <a:ext cx="3677400" cy="883890"/>
          </a:xfrm>
          <a:prstGeom prst="rect">
            <a:avLst/>
          </a:prstGeom>
          <a:noFill/>
          <a:ln>
            <a:noFill/>
          </a:ln>
        </p:spPr>
        <p:txBody>
          <a:bodyPr spcFirstLastPara="1" wrap="square" lIns="91425" tIns="91425" rIns="91425" bIns="91425" anchor="t">
            <a:spAutoFit/>
          </a:bodyPr>
          <a:lstStyle/>
          <a:p>
            <a:pPr marL="0" marR="0" lvl="0" indent="0" algn="ctr">
              <a:lnSpc>
                <a:spcPct val="100000"/>
              </a:lnSpc>
              <a:spcBef>
                <a:spcPts val="0"/>
              </a:spcBef>
              <a:spcAft>
                <a:spcPts val="0"/>
              </a:spcAft>
              <a:buClr>
                <a:srgbClr val="000000"/>
              </a:buClr>
              <a:buSzPts val="2300"/>
              <a:buFont typeface="Arial"/>
              <a:buNone/>
            </a:pPr>
            <a:r>
              <a:rPr sz="2300" b="1" i="0" u="none" cap="none">
                <a:solidFill>
                  <a:schemeClr val="dk1"/>
                </a:solidFill>
                <a:latin typeface="Arial"/>
                <a:ea typeface="Arial"/>
                <a:cs typeface="Arial"/>
              </a:rPr>
              <a:t>IDETC 2026 - Problem Statement 3</a:t>
            </a:r>
            <a:endParaRPr sz="2300" b="1" i="0" u="none" cap="none">
              <a:solidFill>
                <a:srgbClr val="000000"/>
              </a:solidFill>
              <a:latin typeface="Arial"/>
              <a:ea typeface="Arial"/>
              <a:cs typeface="Arial"/>
            </a:endParaRPr>
          </a:p>
        </p:txBody>
      </p:sp>
    </p:spTree>
    <p:extLst>
      <p:ext uri="{BB962C8B-B14F-4D97-AF65-F5344CB8AC3E}">
        <p14:creationId xmlns:p14="http://schemas.microsoft.com/office/powerpoint/2010/main" val="18507817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Google Shape;87;p2">
            <a:extLst>
              <a:ext uri="{FF2B5EF4-FFF2-40B4-BE49-F238E27FC236}">
                <a16:creationId xmlns:a16="http://schemas.microsoft.com/office/drawing/2014/main" id="{86B5CB96-1C21-4BBF-83DB-051E25056E47}"/>
              </a:ext>
            </a:extLst>
          </p:cNvPr>
          <p:cNvSpPr>
            <a:spLocks noGrp="1"/>
          </p:cNvSpPr>
          <p:nvPr/>
        </p:nvSpPr>
        <p:spPr>
          <a:xfrm>
            <a:off x="1467350" y="1734025"/>
            <a:ext cx="7274400" cy="2982900"/>
          </a:xfrm>
          <a:prstGeom prst="roundRect">
            <a:avLst>
              <a:gd name="adj" fmla="val 16667"/>
            </a:avLst>
          </a:prstGeom>
          <a:noFill/>
          <a:ln w="25400" cmpd="sng">
            <a:solidFill>
              <a:srgbClr val="008080"/>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endParaRPr sz="1400" b="0" i="0" u="none" cap="none">
              <a:solidFill>
                <a:schemeClr val="lt1"/>
              </a:solidFill>
              <a:latin typeface="Arial"/>
              <a:ea typeface="Arial"/>
              <a:cs typeface="Arial"/>
            </a:endParaRPr>
          </a:p>
        </p:txBody>
      </p:sp>
      <p:sp>
        <p:nvSpPr>
          <p:cNvPr id="88" name="Google Shape;88;p2">
            <a:extLst>
              <a:ext uri="{FF2B5EF4-FFF2-40B4-BE49-F238E27FC236}">
                <a16:creationId xmlns:a16="http://schemas.microsoft.com/office/drawing/2014/main" id="{B7BD8847-EFCE-45F6-9844-3EDDD23256E1}"/>
              </a:ext>
            </a:extLst>
          </p:cNvPr>
          <p:cNvSpPr>
            <a:spLocks noGrp="1"/>
          </p:cNvSpPr>
          <p:nvPr>
            <p:ph type="title"/>
          </p:nvPr>
        </p:nvSpPr>
        <p:spPr>
          <a:xfrm>
            <a:off x="1515146" y="335919"/>
            <a:ext cx="9968700" cy="1325700"/>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Motivation:</a:t>
            </a:r>
          </a:p>
        </p:txBody>
      </p:sp>
      <p:sp>
        <p:nvSpPr>
          <p:cNvPr id="89" name="Google Shape;89;p2">
            <a:extLst>
              <a:ext uri="{FF2B5EF4-FFF2-40B4-BE49-F238E27FC236}">
                <a16:creationId xmlns:a16="http://schemas.microsoft.com/office/drawing/2014/main" id="{6C8DEC33-05CE-4AC3-BB73-05B963EEBFC9}"/>
              </a:ext>
            </a:extLst>
          </p:cNvPr>
          <p:cNvSpPr>
            <a:spLocks noGrp="1"/>
          </p:cNvSpPr>
          <p:nvPr>
            <p:ph type="body" idx="4294967295"/>
          </p:nvPr>
        </p:nvSpPr>
        <p:spPr>
          <a:xfrm>
            <a:off x="1225082" y="1917586"/>
            <a:ext cx="7382700" cy="3115800"/>
          </a:xfrm>
          <a:prstGeom prst="rect">
            <a:avLst/>
          </a:prstGeom>
          <a:noFill/>
          <a:ln>
            <a:noFill/>
          </a:ln>
        </p:spPr>
        <p:txBody>
          <a:bodyPr spcFirstLastPara="1" wrap="square" lIns="91425" tIns="45700" rIns="91425" bIns="45700" anchor="t">
            <a:normAutofit lnSpcReduction="10000"/>
          </a:bodyPr>
          <a:lstStyle/>
          <a:p>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CAD edits are slow when engineers must manually find features, rebuild geometry, and validate every change.</a:t>
            </a:r>
            <a:endParaRPr sz="1700">
              <a:latin typeface="Arial"/>
              <a:ea typeface="Arial"/>
              <a:cs typeface="Arial"/>
            </a:endParaRPr>
          </a:p>
          <a:p>
            <a:pPr marL="640080" lvl="0" indent="-336550" algn="just">
              <a:lnSpc>
                <a:spcPct val="100000"/>
              </a:lnSpc>
              <a:spcBef>
                <a:spcPts val="1000"/>
              </a:spcBef>
              <a:spcAft>
                <a:spcPts val="0"/>
              </a:spcAft>
              <a:buSzPts val="1700"/>
              <a:buChar char="•"/>
              <a:defRPr sz="1500">
                <a:solidFill>
                  <a:srgbClr val="000000"/>
                </a:solidFill>
              </a:defRPr>
            </a:pPr>
            <a:r>
              <a:rPr sz="1500" b="1">
                <a:solidFill>
                  <a:srgbClr val="000000"/>
                </a:solidFill>
                <a:latin typeface="Arial"/>
                <a:ea typeface="Arial"/>
                <a:cs typeface="Arial"/>
              </a:rPr>
              <a:t>Grounded CAD edits existing STEP files from natural-language instructions.</a:t>
            </a:r>
            <a:endParaRPr sz="1700">
              <a:latin typeface="Arial"/>
              <a:ea typeface="Arial"/>
              <a:cs typeface="Arial"/>
            </a:endParaRPr>
          </a:p>
          <a:p>
            <a:pPr marL="640080" lvl="0" indent="-336550" algn="just">
              <a:lnSpc>
                <a:spcPct val="100000"/>
              </a:lnSpc>
              <a:spcBef>
                <a:spcPts val="1000"/>
              </a:spcBef>
              <a:spcAft>
                <a:spcPts val="0"/>
              </a:spcAft>
              <a:buSzPts val="1700"/>
              <a:buChar char="•"/>
              <a:defRPr sz="1500">
                <a:solidFill>
                  <a:srgbClr val="000000"/>
                </a:solidFill>
              </a:defRPr>
            </a:pPr>
            <a:r>
              <a:rPr sz="1500">
                <a:solidFill>
                  <a:srgbClr val="000000"/>
                </a:solidFill>
                <a:latin typeface="Arial"/>
                <a:ea typeface="Arial"/>
                <a:cs typeface="Arial"/>
              </a:rPr>
              <a:t>Benchmark success depends on changing the intended feature, not just producing a valid CAD file.</a:t>
            </a:r>
            <a:endParaRPr sz="1700">
              <a:latin typeface="Arial"/>
              <a:ea typeface="Arial"/>
              <a:cs typeface="Arial"/>
            </a:endParaRPr>
          </a:p>
        </p:txBody>
      </p:sp>
      <p:pic>
        <p:nvPicPr>
          <p:cNvPr id="94" name="Google Shape;90;p2"/>
          <p:cNvPicPr>
            <a:picLocks noChangeAspect="1"/>
          </p:cNvPicPr>
          <p:nvPr/>
        </p:nvPicPr>
        <p:blipFill rotWithShape="1">
          <a:blip r:embed="rId3">
            <a:alphaModFix/>
          </a:blip>
          <a:srcRect/>
          <a:stretch/>
        </p:blipFill>
        <p:spPr>
          <a:xfrm>
            <a:off x="8882900" y="0"/>
            <a:ext cx="3309100" cy="6345825"/>
          </a:xfrm>
          <a:prstGeom prst="rect">
            <a:avLst/>
          </a:prstGeom>
          <a:ln>
            <a:noFill/>
          </a:ln>
        </p:spPr>
      </p:pic>
    </p:spTree>
    <p:extLst>
      <p:ext uri="{BB962C8B-B14F-4D97-AF65-F5344CB8AC3E}">
        <p14:creationId xmlns:p14="http://schemas.microsoft.com/office/powerpoint/2010/main" val="50135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Google Shape;95;g3f75d711436_0_19">
            <a:extLst>
              <a:ext uri="{FF2B5EF4-FFF2-40B4-BE49-F238E27FC236}">
                <a16:creationId xmlns:a16="http://schemas.microsoft.com/office/drawing/2014/main" id="{B3A7CAB6-7766-4C00-B3AC-E084B7BC2BE1}"/>
              </a:ext>
            </a:extLst>
          </p:cNvPr>
          <p:cNvSpPr>
            <a:spLocks noGrp="1"/>
          </p:cNvSpPr>
          <p:nvPr>
            <p:ph type="title"/>
          </p:nvPr>
        </p:nvSpPr>
        <p:spPr>
          <a:xfrm>
            <a:off x="1385046" y="177944"/>
            <a:ext cx="9968700" cy="1325700"/>
          </a:xfrm>
          <a:prstGeom prst="rect">
            <a:avLst/>
          </a:prstGeom>
          <a:noFill/>
          <a:ln>
            <a:noFill/>
          </a:ln>
        </p:spPr>
        <p:txBody>
          <a:bodyPr spcFirstLastPara="1" wrap="square" lIns="91425" tIns="45700" rIns="91425" bIns="45700" anchor="ctr">
            <a:normAutofit/>
          </a:bodyPr>
          <a:lstStyle/>
          <a:p>
            <a:pPr marL="0" marR="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Harness Architecture</a:t>
            </a:r>
          </a:p>
        </p:txBody>
      </p:sp>
      <p:sp>
        <p:nvSpPr>
          <p:cNvPr id="96" name="Google Shape;96;g3f75d711436_0_19">
            <a:extLst>
              <a:ext uri="{FF2B5EF4-FFF2-40B4-BE49-F238E27FC236}">
                <a16:creationId xmlns:a16="http://schemas.microsoft.com/office/drawing/2014/main" id="{DCEA5EDA-3412-40E5-9EC5-7EDBA7477700}"/>
              </a:ext>
            </a:extLst>
          </p:cNvPr>
          <p:cNvSpPr>
            <a:spLocks noGrp="1"/>
          </p:cNvSpPr>
          <p:nvPr/>
        </p:nvSpPr>
        <p:spPr>
          <a:xfrm>
            <a:off x="7662672" y="1202436"/>
            <a:ext cx="1691640" cy="402336"/>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Parquet File</a:t>
            </a:r>
            <a:r>
              <a:rPr sz="1400" b="0" i="0" u="none" cap="none">
                <a:solidFill>
                  <a:schemeClr val="lt1"/>
                </a:solidFill>
                <a:latin typeface="Arial"/>
                <a:ea typeface="Arial"/>
                <a:cs typeface="Arial"/>
              </a:rPr>
              <a:t> </a:t>
            </a:r>
            <a:endParaRPr/>
          </a:p>
        </p:txBody>
      </p:sp>
      <p:cxnSp>
        <p:nvCxnSpPr>
          <p:cNvPr id="122" name="Google Shape;97;g3f75d711436_0_19"/>
          <p:cNvCxnSpPr/>
          <p:nvPr/>
        </p:nvCxnSpPr>
        <p:spPr>
          <a:xfrm>
            <a:off x="9784080" y="1291318"/>
            <a:ext cx="0" cy="224572"/>
          </a:xfrm>
          <a:prstGeom prst="straightConnector1">
            <a:avLst/>
          </a:prstGeom>
          <a:ln w="9525" cap="flat">
            <a:solidFill>
              <a:schemeClr val="dk1"/>
            </a:solidFill>
            <a:prstDash val="solid"/>
            <a:round/>
            <a:headEnd type="none" w="sm" len="sm"/>
            <a:tailEnd type="none" w="sm" len="sm"/>
          </a:ln>
        </p:spPr>
      </p:cxnSp>
      <p:cxnSp>
        <p:nvCxnSpPr>
          <p:cNvPr id="123" name="Google Shape;98;g3f75d711436_0_19"/>
          <p:cNvCxnSpPr/>
          <p:nvPr/>
        </p:nvCxnSpPr>
        <p:spPr>
          <a:xfrm rot="10800000">
            <a:off x="9646920" y="1399032"/>
            <a:ext cx="256032" cy="0"/>
          </a:xfrm>
          <a:prstGeom prst="straightConnector1">
            <a:avLst/>
          </a:prstGeom>
          <a:ln w="9525" cap="flat">
            <a:solidFill>
              <a:schemeClr val="dk1"/>
            </a:solidFill>
            <a:prstDash val="solid"/>
            <a:round/>
            <a:headEnd type="none" w="sm" len="sm"/>
            <a:tailEnd type="none" w="sm" len="sm"/>
          </a:ln>
        </p:spPr>
      </p:cxnSp>
      <p:sp>
        <p:nvSpPr>
          <p:cNvPr id="99" name="Google Shape;99;g3f75d711436_0_19">
            <a:extLst>
              <a:ext uri="{FF2B5EF4-FFF2-40B4-BE49-F238E27FC236}">
                <a16:creationId xmlns:a16="http://schemas.microsoft.com/office/drawing/2014/main" id="{36EA3B91-5780-49FC-AA3A-A5399528E4F6}"/>
              </a:ext>
            </a:extLst>
          </p:cNvPr>
          <p:cNvSpPr>
            <a:spLocks noGrp="1"/>
          </p:cNvSpPr>
          <p:nvPr/>
        </p:nvSpPr>
        <p:spPr>
          <a:xfrm>
            <a:off x="10190988" y="1202436"/>
            <a:ext cx="1691640" cy="402336"/>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.Step</a:t>
            </a:r>
            <a:endParaRPr/>
          </a:p>
        </p:txBody>
      </p:sp>
      <p:sp>
        <p:nvSpPr>
          <p:cNvPr id="100" name="Google Shape;100;g3f75d711436_0_19">
            <a:extLst>
              <a:ext uri="{FF2B5EF4-FFF2-40B4-BE49-F238E27FC236}">
                <a16:creationId xmlns:a16="http://schemas.microsoft.com/office/drawing/2014/main" id="{CB8F0518-1807-4E23-BFA6-38C5D2EBBC40}"/>
              </a:ext>
            </a:extLst>
          </p:cNvPr>
          <p:cNvSpPr>
            <a:spLocks noGrp="1"/>
          </p:cNvSpPr>
          <p:nvPr/>
        </p:nvSpPr>
        <p:spPr>
          <a:xfrm rot="5400000">
            <a:off x="9573768" y="853857"/>
            <a:ext cx="402335" cy="1933955"/>
          </a:xfrm>
          <a:prstGeom prst="rightBrace">
            <a:avLst>
              <a:gd name="adj1" fmla="val 8333"/>
              <a:gd name="adj2" fmla="val 46849"/>
            </a:avLst>
          </a:prstGeom>
          <a:noFill/>
          <a:ln w="9525" cmpd="sng">
            <a:solidFill>
              <a:schemeClr val="dk1"/>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endParaRPr sz="1400" b="0" i="0" u="none" cap="none">
              <a:solidFill>
                <a:schemeClr val="dk1"/>
              </a:solidFill>
              <a:latin typeface="Arial"/>
              <a:ea typeface="Arial"/>
              <a:cs typeface="Arial"/>
            </a:endParaRPr>
          </a:p>
        </p:txBody>
      </p:sp>
      <p:sp>
        <p:nvSpPr>
          <p:cNvPr id="101" name="Google Shape;101;g3f75d711436_0_19">
            <a:extLst>
              <a:ext uri="{FF2B5EF4-FFF2-40B4-BE49-F238E27FC236}">
                <a16:creationId xmlns:a16="http://schemas.microsoft.com/office/drawing/2014/main" id="{C213F9F5-91F8-47C9-82A4-5F3222C4F86B}"/>
              </a:ext>
            </a:extLst>
          </p:cNvPr>
          <p:cNvSpPr>
            <a:spLocks noGrp="1"/>
          </p:cNvSpPr>
          <p:nvPr/>
        </p:nvSpPr>
        <p:spPr>
          <a:xfrm>
            <a:off x="9052559" y="2022002"/>
            <a:ext cx="1604765" cy="364494"/>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Grounder</a:t>
            </a:r>
            <a:endParaRPr/>
          </a:p>
        </p:txBody>
      </p:sp>
      <p:sp>
        <p:nvSpPr>
          <p:cNvPr id="102" name="Google Shape;102;g3f75d711436_0_19">
            <a:extLst>
              <a:ext uri="{FF2B5EF4-FFF2-40B4-BE49-F238E27FC236}">
                <a16:creationId xmlns:a16="http://schemas.microsoft.com/office/drawing/2014/main" id="{E6B84474-5A0D-45DA-B195-178EC8EB5FF0}"/>
              </a:ext>
            </a:extLst>
          </p:cNvPr>
          <p:cNvSpPr>
            <a:spLocks noGrp="1"/>
          </p:cNvSpPr>
          <p:nvPr/>
        </p:nvSpPr>
        <p:spPr>
          <a:xfrm>
            <a:off x="9052559" y="2571052"/>
            <a:ext cx="1604765" cy="364494"/>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Classifier</a:t>
            </a:r>
            <a:endParaRPr/>
          </a:p>
        </p:txBody>
      </p:sp>
      <p:sp>
        <p:nvSpPr>
          <p:cNvPr id="103" name="Google Shape;103;g3f75d711436_0_19">
            <a:extLst>
              <a:ext uri="{FF2B5EF4-FFF2-40B4-BE49-F238E27FC236}">
                <a16:creationId xmlns:a16="http://schemas.microsoft.com/office/drawing/2014/main" id="{78397D27-A43F-4449-9438-78497570B6A8}"/>
              </a:ext>
            </a:extLst>
          </p:cNvPr>
          <p:cNvSpPr>
            <a:spLocks noGrp="1"/>
          </p:cNvSpPr>
          <p:nvPr/>
        </p:nvSpPr>
        <p:spPr>
          <a:xfrm>
            <a:off x="9057135" y="3108773"/>
            <a:ext cx="1604765" cy="374214"/>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Planner</a:t>
            </a:r>
            <a:endParaRPr/>
          </a:p>
        </p:txBody>
      </p:sp>
      <p:sp>
        <p:nvSpPr>
          <p:cNvPr id="104" name="Google Shape;104;g3f75d711436_0_19">
            <a:extLst>
              <a:ext uri="{FF2B5EF4-FFF2-40B4-BE49-F238E27FC236}">
                <a16:creationId xmlns:a16="http://schemas.microsoft.com/office/drawing/2014/main" id="{79DF407E-A66F-45AE-931E-986E5CFB9450}"/>
              </a:ext>
            </a:extLst>
          </p:cNvPr>
          <p:cNvSpPr>
            <a:spLocks noGrp="1"/>
          </p:cNvSpPr>
          <p:nvPr/>
        </p:nvSpPr>
        <p:spPr>
          <a:xfrm>
            <a:off x="9052559" y="3703032"/>
            <a:ext cx="1609341" cy="392446"/>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Executor</a:t>
            </a:r>
            <a:endParaRPr/>
          </a:p>
        </p:txBody>
      </p:sp>
      <p:sp>
        <p:nvSpPr>
          <p:cNvPr id="105" name="Google Shape;105;g3f75d711436_0_19">
            <a:extLst>
              <a:ext uri="{FF2B5EF4-FFF2-40B4-BE49-F238E27FC236}">
                <a16:creationId xmlns:a16="http://schemas.microsoft.com/office/drawing/2014/main" id="{89D51CEA-0180-4B2B-AC6B-DCD2E530B741}"/>
              </a:ext>
            </a:extLst>
          </p:cNvPr>
          <p:cNvSpPr>
            <a:spLocks noGrp="1"/>
          </p:cNvSpPr>
          <p:nvPr/>
        </p:nvSpPr>
        <p:spPr>
          <a:xfrm>
            <a:off x="9052559" y="4292872"/>
            <a:ext cx="1609342" cy="392446"/>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Verifier</a:t>
            </a:r>
            <a:endParaRPr/>
          </a:p>
        </p:txBody>
      </p:sp>
      <p:sp>
        <p:nvSpPr>
          <p:cNvPr id="106" name="Google Shape;106;g3f75d711436_0_19">
            <a:extLst>
              <a:ext uri="{FF2B5EF4-FFF2-40B4-BE49-F238E27FC236}">
                <a16:creationId xmlns:a16="http://schemas.microsoft.com/office/drawing/2014/main" id="{8F2CBF93-C7AF-46B3-B44D-ACA1E7E055CF}"/>
              </a:ext>
            </a:extLst>
          </p:cNvPr>
          <p:cNvSpPr>
            <a:spLocks noGrp="1"/>
          </p:cNvSpPr>
          <p:nvPr/>
        </p:nvSpPr>
        <p:spPr>
          <a:xfrm>
            <a:off x="9052559" y="4833211"/>
            <a:ext cx="1618485" cy="402335"/>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Critic</a:t>
            </a:r>
            <a:endParaRPr/>
          </a:p>
        </p:txBody>
      </p:sp>
      <p:cxnSp>
        <p:nvCxnSpPr>
          <p:cNvPr id="132" name="Google Shape;107;g3f75d711436_0_19"/>
          <p:cNvCxnSpPr>
            <a:stCxn id="106" idx="1"/>
          </p:cNvCxnSpPr>
          <p:nvPr/>
        </p:nvCxnSpPr>
        <p:spPr>
          <a:xfrm rot="10800000">
            <a:off x="8531459" y="5034379"/>
            <a:ext cx="521100" cy="0"/>
          </a:xfrm>
          <a:prstGeom prst="straightConnector1">
            <a:avLst/>
          </a:prstGeom>
          <a:ln w="9525" cap="flat">
            <a:solidFill>
              <a:schemeClr val="dk1"/>
            </a:solidFill>
            <a:prstDash val="solid"/>
            <a:round/>
            <a:headEnd type="none" w="sm" len="sm"/>
            <a:tailEnd type="none" w="sm" len="sm"/>
          </a:ln>
        </p:spPr>
      </p:cxnSp>
      <p:cxnSp>
        <p:nvCxnSpPr>
          <p:cNvPr id="133" name="Google Shape;108;g3f75d711436_0_19"/>
          <p:cNvCxnSpPr/>
          <p:nvPr/>
        </p:nvCxnSpPr>
        <p:spPr>
          <a:xfrm rot="10800000">
            <a:off x="8531352" y="2753299"/>
            <a:ext cx="0" cy="2281079"/>
          </a:xfrm>
          <a:prstGeom prst="straightConnector1">
            <a:avLst/>
          </a:prstGeom>
          <a:ln w="9525" cap="flat">
            <a:solidFill>
              <a:schemeClr val="dk1"/>
            </a:solidFill>
            <a:prstDash val="solid"/>
            <a:round/>
            <a:headEnd type="none" w="sm" len="sm"/>
            <a:tailEnd type="none" w="sm" len="sm"/>
          </a:ln>
        </p:spPr>
      </p:cxnSp>
      <p:cxnSp>
        <p:nvCxnSpPr>
          <p:cNvPr id="134" name="Google Shape;109;g3f75d711436_0_19"/>
          <p:cNvCxnSpPr>
            <a:endCxn id="102" idx="1"/>
          </p:cNvCxnSpPr>
          <p:nvPr/>
        </p:nvCxnSpPr>
        <p:spPr>
          <a:xfrm rot="10800000" flipH="1">
            <a:off x="8531459" y="2753299"/>
            <a:ext cx="521100" cy="6300"/>
          </a:xfrm>
          <a:prstGeom prst="straightConnector1">
            <a:avLst/>
          </a:prstGeom>
          <a:ln w="9525" cap="flat">
            <a:solidFill>
              <a:schemeClr val="dk1"/>
            </a:solidFill>
            <a:prstDash val="solid"/>
            <a:round/>
            <a:headEnd type="none" w="sm" len="sm"/>
            <a:tailEnd type="triangle" w="med" len="med"/>
          </a:ln>
        </p:spPr>
      </p:cxnSp>
      <p:sp>
        <p:nvSpPr>
          <p:cNvPr id="110" name="Google Shape;110;g3f75d711436_0_19">
            <a:extLst>
              <a:ext uri="{FF2B5EF4-FFF2-40B4-BE49-F238E27FC236}">
                <a16:creationId xmlns:a16="http://schemas.microsoft.com/office/drawing/2014/main" id="{FDE34E97-7CF7-4599-AAC5-A45F6C322EDF}"/>
              </a:ext>
            </a:extLst>
          </p:cNvPr>
          <p:cNvSpPr>
            <a:spLocks noGrp="1"/>
          </p:cNvSpPr>
          <p:nvPr/>
        </p:nvSpPr>
        <p:spPr>
          <a:xfrm>
            <a:off x="9052559" y="5408084"/>
            <a:ext cx="1618486" cy="402335"/>
          </a:xfrm>
          <a:prstGeom prst="rect">
            <a:avLst/>
          </a:prstGeom>
          <a:solidFill>
            <a:schemeClr val="accent1"/>
          </a:solidFill>
          <a:ln w="25400" cmpd="sng">
            <a:solidFill>
              <a:srgbClr val="5D5D5D"/>
            </a:solidFill>
            <a:prstDash val="solid"/>
            <a:headEnd type="none" w="sm" len="sm"/>
            <a:tailEnd type="none" w="sm" len="sm"/>
          </a:ln>
        </p:spPr>
        <p:txBody>
          <a:bodyPr spcFirstLastPara="1" wrap="square" lIns="91425" tIns="45700" rIns="91425" bIns="45700" anchor="ctr">
            <a:noAutofit/>
          </a:bodyPr>
          <a:lstStyle/>
          <a:p>
            <a:pPr marL="0" marR="0" lvl="0" indent="0" algn="ctr">
              <a:lnSpc>
                <a:spcPct val="100000"/>
              </a:lnSpc>
              <a:spcBef>
                <a:spcPts val="0"/>
              </a:spcBef>
              <a:spcAft>
                <a:spcPts val="0"/>
              </a:spcAft>
              <a:buNone/>
            </a:pPr>
            <a:r>
              <a:rPr sz="1400" b="0" i="0" u="none" cap="none">
                <a:solidFill>
                  <a:schemeClr val="dk1"/>
                </a:solidFill>
                <a:latin typeface="Arial"/>
                <a:ea typeface="Arial"/>
                <a:cs typeface="Arial"/>
              </a:rPr>
              <a:t>Output</a:t>
            </a:r>
            <a:endParaRPr/>
          </a:p>
        </p:txBody>
      </p:sp>
      <p:cxnSp>
        <p:nvCxnSpPr>
          <p:cNvPr id="136" name="Google Shape;111;g3f75d711436_0_19"/>
          <p:cNvCxnSpPr>
            <a:stCxn id="101" idx="2"/>
            <a:endCxn id="102" idx="0"/>
          </p:cNvCxnSpPr>
          <p:nvPr/>
        </p:nvCxnSpPr>
        <p:spPr>
          <a:xfrm>
            <a:off x="9854942" y="2386496"/>
            <a:ext cx="0" cy="184500"/>
          </a:xfrm>
          <a:prstGeom prst="straightConnector1">
            <a:avLst/>
          </a:prstGeom>
          <a:ln w="9525" cap="flat">
            <a:solidFill>
              <a:schemeClr val="dk1"/>
            </a:solidFill>
            <a:prstDash val="solid"/>
            <a:round/>
            <a:headEnd type="none" w="sm" len="sm"/>
            <a:tailEnd type="triangle" w="med" len="med"/>
          </a:ln>
        </p:spPr>
      </p:cxnSp>
      <p:cxnSp>
        <p:nvCxnSpPr>
          <p:cNvPr id="137" name="Google Shape;112;g3f75d711436_0_19"/>
          <p:cNvCxnSpPr/>
          <p:nvPr/>
        </p:nvCxnSpPr>
        <p:spPr>
          <a:xfrm>
            <a:off x="9861801" y="2935546"/>
            <a:ext cx="0" cy="184556"/>
          </a:xfrm>
          <a:prstGeom prst="straightConnector1">
            <a:avLst/>
          </a:prstGeom>
          <a:ln w="9525" cap="flat">
            <a:solidFill>
              <a:schemeClr val="dk1"/>
            </a:solidFill>
            <a:prstDash val="solid"/>
            <a:round/>
            <a:headEnd type="none" w="sm" len="sm"/>
            <a:tailEnd type="triangle" w="med" len="med"/>
          </a:ln>
        </p:spPr>
      </p:cxnSp>
      <p:cxnSp>
        <p:nvCxnSpPr>
          <p:cNvPr id="138" name="Google Shape;113;g3f75d711436_0_19"/>
          <p:cNvCxnSpPr/>
          <p:nvPr/>
        </p:nvCxnSpPr>
        <p:spPr>
          <a:xfrm>
            <a:off x="9883894" y="3482987"/>
            <a:ext cx="0" cy="184556"/>
          </a:xfrm>
          <a:prstGeom prst="straightConnector1">
            <a:avLst/>
          </a:prstGeom>
          <a:ln w="9525" cap="flat">
            <a:solidFill>
              <a:schemeClr val="dk1"/>
            </a:solidFill>
            <a:prstDash val="solid"/>
            <a:round/>
            <a:headEnd type="none" w="sm" len="sm"/>
            <a:tailEnd type="triangle" w="med" len="med"/>
          </a:ln>
        </p:spPr>
      </p:cxnSp>
      <p:cxnSp>
        <p:nvCxnSpPr>
          <p:cNvPr id="139" name="Google Shape;114;g3f75d711436_0_19"/>
          <p:cNvCxnSpPr/>
          <p:nvPr/>
        </p:nvCxnSpPr>
        <p:spPr>
          <a:xfrm>
            <a:off x="9883894" y="4095478"/>
            <a:ext cx="0" cy="184556"/>
          </a:xfrm>
          <a:prstGeom prst="straightConnector1">
            <a:avLst/>
          </a:prstGeom>
          <a:ln w="9525" cap="flat">
            <a:solidFill>
              <a:schemeClr val="dk1"/>
            </a:solidFill>
            <a:prstDash val="solid"/>
            <a:round/>
            <a:headEnd type="none" w="sm" len="sm"/>
            <a:tailEnd type="triangle" w="med" len="med"/>
          </a:ln>
        </p:spPr>
      </p:cxnSp>
      <p:cxnSp>
        <p:nvCxnSpPr>
          <p:cNvPr id="140" name="Google Shape;115;g3f75d711436_0_19"/>
          <p:cNvCxnSpPr>
            <a:stCxn id="105" idx="2"/>
            <a:endCxn id="106" idx="0"/>
          </p:cNvCxnSpPr>
          <p:nvPr/>
        </p:nvCxnSpPr>
        <p:spPr>
          <a:xfrm>
            <a:off x="9857230" y="4685318"/>
            <a:ext cx="4500" cy="147900"/>
          </a:xfrm>
          <a:prstGeom prst="straightConnector1">
            <a:avLst/>
          </a:prstGeom>
          <a:ln w="9525" cap="flat">
            <a:solidFill>
              <a:schemeClr val="dk1"/>
            </a:solidFill>
            <a:prstDash val="solid"/>
            <a:round/>
            <a:headEnd type="none" w="sm" len="sm"/>
            <a:tailEnd type="triangle" w="med" len="med"/>
          </a:ln>
        </p:spPr>
      </p:cxnSp>
      <p:cxnSp>
        <p:nvCxnSpPr>
          <p:cNvPr id="141" name="Google Shape;116;g3f75d711436_0_19"/>
          <p:cNvCxnSpPr/>
          <p:nvPr/>
        </p:nvCxnSpPr>
        <p:spPr>
          <a:xfrm>
            <a:off x="9886172" y="5235546"/>
            <a:ext cx="0" cy="184556"/>
          </a:xfrm>
          <a:prstGeom prst="straightConnector1">
            <a:avLst/>
          </a:prstGeom>
          <a:ln w="9525" cap="flat">
            <a:solidFill>
              <a:schemeClr val="dk1"/>
            </a:solidFill>
            <a:prstDash val="solid"/>
            <a:round/>
            <a:headEnd type="none" w="sm" len="sm"/>
            <a:tailEnd type="triangle" w="med" len="med"/>
          </a:ln>
        </p:spPr>
      </p:cxnSp>
      <p:sp>
        <p:nvSpPr>
          <p:cNvPr id="117" name="Google Shape;117;g3f75d711436_0_19">
            <a:extLst>
              <a:ext uri="{FF2B5EF4-FFF2-40B4-BE49-F238E27FC236}">
                <a16:creationId xmlns:a16="http://schemas.microsoft.com/office/drawing/2014/main" id="{2EDC6549-07D4-4B38-98B1-DAE5355F46A1}"/>
              </a:ext>
            </a:extLst>
          </p:cNvPr>
          <p:cNvSpPr>
            <a:spLocks noGrp="1"/>
          </p:cNvSpPr>
          <p:nvPr/>
        </p:nvSpPr>
        <p:spPr>
          <a:xfrm>
            <a:off x="8578580" y="4803471"/>
            <a:ext cx="510529" cy="246221"/>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No</a:t>
            </a:r>
            <a:endParaRPr/>
          </a:p>
        </p:txBody>
      </p:sp>
      <p:sp>
        <p:nvSpPr>
          <p:cNvPr id="118" name="Google Shape;118;g3f75d711436_0_19">
            <a:extLst>
              <a:ext uri="{FF2B5EF4-FFF2-40B4-BE49-F238E27FC236}">
                <a16:creationId xmlns:a16="http://schemas.microsoft.com/office/drawing/2014/main" id="{B4A8BB98-1DD2-4F81-A60B-17015A73F633}"/>
              </a:ext>
            </a:extLst>
          </p:cNvPr>
          <p:cNvSpPr>
            <a:spLocks noGrp="1"/>
          </p:cNvSpPr>
          <p:nvPr/>
        </p:nvSpPr>
        <p:spPr>
          <a:xfrm>
            <a:off x="9935723" y="5195237"/>
            <a:ext cx="510529" cy="246221"/>
          </a:xfrm>
          <a:prstGeom prst="rect">
            <a:avLst/>
          </a:prstGeom>
          <a:noFill/>
          <a:ln>
            <a:noFill/>
          </a:ln>
        </p:spPr>
        <p:txBody>
          <a:bodyPr spcFirstLastPara="1" wrap="square" lIns="91425" tIns="45700" rIns="91425" bIns="45700" anchor="t">
            <a:spAutoFit/>
          </a:bodyPr>
          <a:lstStyle/>
          <a:p>
            <a:pPr marL="0" marR="0" lvl="0" indent="0" algn="l">
              <a:lnSpc>
                <a:spcPct val="100000"/>
              </a:lnSpc>
              <a:spcBef>
                <a:spcPts val="0"/>
              </a:spcBef>
              <a:spcAft>
                <a:spcPts val="0"/>
              </a:spcAft>
              <a:buNone/>
            </a:pPr>
            <a:r>
              <a:rPr sz="1000" b="0" i="0" u="none" cap="none">
                <a:solidFill>
                  <a:srgbClr val="000000"/>
                </a:solidFill>
                <a:latin typeface="Arial"/>
                <a:ea typeface="Arial"/>
                <a:cs typeface="Arial"/>
              </a:rPr>
              <a:t>Yes</a:t>
            </a:r>
            <a:endParaRPr/>
          </a:p>
        </p:txBody>
      </p:sp>
      <p:sp>
        <p:nvSpPr>
          <p:cNvPr id="119" name="Google Shape;119;g3f75d711436_0_19">
            <a:extLst>
              <a:ext uri="{FF2B5EF4-FFF2-40B4-BE49-F238E27FC236}">
                <a16:creationId xmlns:a16="http://schemas.microsoft.com/office/drawing/2014/main" id="{4DBFFBFC-5744-4622-AF82-C2C67C1D7B28}"/>
              </a:ext>
            </a:extLst>
          </p:cNvPr>
          <p:cNvSpPr>
            <a:spLocks noGrp="1"/>
          </p:cNvSpPr>
          <p:nvPr/>
        </p:nvSpPr>
        <p:spPr>
          <a:xfrm>
            <a:off x="1227100" y="1330500"/>
            <a:ext cx="5904000" cy="4197000"/>
          </a:xfrm>
          <a:prstGeom prst="rect">
            <a:avLst/>
          </a:prstGeom>
          <a:noFill/>
          <a:ln>
            <a:noFill/>
          </a:ln>
        </p:spPr>
        <p:txBody>
          <a:bodyPr spcFirstLastPara="1" wrap="square" lIns="91425" tIns="91425" rIns="91425" bIns="91425" anchor="t">
            <a:spAutoFit/>
          </a:bodyPr>
          <a:lstStyle/>
          <a:p>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Grounder - extracts a compact B-Rep census: faces, rims, holes, bounding boxes, and edit sites.</a:t>
            </a:r>
            <a:endParaRPr sz="1700">
              <a:solidFill>
                <a:schemeClr val="dk1"/>
              </a:solidFill>
            </a:endParaRPr>
          </a:p>
          <a:p>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Classifier - routes the instruction into typed edit slots.</a:t>
            </a:r>
            <a:endParaRPr sz="1700">
              <a:solidFill>
                <a:schemeClr val="dk1"/>
              </a:solidFill>
            </a:endParaRPr>
          </a:p>
          <a:p>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Planner - selects deterministic tools or GPT-written local CadQuery.</a:t>
            </a:r>
            <a:endParaRPr sz="1700">
              <a:solidFill>
                <a:schemeClr val="dk1"/>
              </a:solidFill>
            </a:endParaRPr>
          </a:p>
          <a:p>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Executor - runs edits in an isolated watchdog process.</a:t>
            </a:r>
            <a:endParaRPr sz="1700">
              <a:solidFill>
                <a:schemeClr val="dk1"/>
              </a:solidFill>
            </a:endParaRPr>
          </a:p>
          <a:p>
            <a:pPr marL="640080" lvl="0" indent="-336550" algn="just">
              <a:spcBef>
                <a:spcPts val="1000"/>
              </a:spcBef>
              <a:spcAft>
                <a:spcPts val="0"/>
              </a:spcAft>
              <a:buClr>
                <a:schemeClr val="dk1"/>
              </a:buClr>
              <a:buSzPts val="1700"/>
              <a:buChar char="•"/>
              <a:defRPr sz="1425">
                <a:solidFill>
                  <a:srgbClr val="000000"/>
                </a:solidFill>
              </a:defRPr>
            </a:pPr>
            <a:r>
              <a:rPr sz="1425" b="1">
                <a:solidFill>
                  <a:srgbClr val="000000"/>
                </a:solidFill>
              </a:rPr>
              <a:t>Verifier/Critic - rejects bad outputs and turns failure buckets into retry feedback.</a:t>
            </a:r>
            <a:endParaRPr sz="1700">
              <a:solidFill>
                <a:schemeClr val="dk1"/>
              </a:solidFill>
            </a:endParaRPr>
          </a:p>
        </p:txBody>
      </p:sp>
    </p:spTree>
    <p:extLst>
      <p:ext uri="{BB962C8B-B14F-4D97-AF65-F5344CB8AC3E}">
        <p14:creationId xmlns:p14="http://schemas.microsoft.com/office/powerpoint/2010/main" val="1562451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Google Shape;124;g3f75d711436_0_140">
            <a:extLst>
              <a:ext uri="{FF2B5EF4-FFF2-40B4-BE49-F238E27FC236}">
                <a16:creationId xmlns:a16="http://schemas.microsoft.com/office/drawing/2014/main" id="{AC5AE28E-9F24-478C-9D81-B601D4178EB0}"/>
              </a:ext>
            </a:extLst>
          </p:cNvPr>
          <p:cNvSpPr>
            <a:spLocks noGrp="1"/>
          </p:cNvSpPr>
          <p:nvPr>
            <p:ph type="title"/>
          </p:nvPr>
        </p:nvSpPr>
        <p:spPr>
          <a:xfrm>
            <a:off x="1385046" y="177944"/>
            <a:ext cx="9968700" cy="1325700"/>
          </a:xfrm>
          <a:prstGeom prst="rect">
            <a:avLst/>
          </a:prstGeom>
          <a:noFill/>
          <a:ln>
            <a:noFill/>
          </a:ln>
        </p:spPr>
        <p:txBody>
          <a:bodyPr spcFirstLastPara="1" wrap="square" lIns="91425" tIns="45700" rIns="91425" bIns="45700" anchor="ctr">
            <a:normAutofit/>
          </a:bodyPr>
          <a:lstStyle/>
          <a:p>
            <a:pPr marL="0" lvl="0" indent="0" algn="l">
              <a:spcBef>
                <a:spcPts val="0"/>
              </a:spcBef>
              <a:spcAft>
                <a:spcPts val="0"/>
              </a:spcAft>
              <a:buClr>
                <a:schemeClr val="dk1"/>
              </a:buClr>
              <a:buSzPts val="4400"/>
              <a:buFont typeface="Calibri"/>
              <a:buNone/>
            </a:pPr>
            <a:r>
              <a:rPr sz="3400">
                <a:latin typeface="Arial"/>
                <a:ea typeface="Arial"/>
                <a:cs typeface="Arial"/>
              </a:rPr>
              <a:t>Grounded CAD: What changed during development</a:t>
            </a:r>
            <a:endParaRPr sz="3100">
              <a:latin typeface="Georgia"/>
              <a:ea typeface="Georgia"/>
              <a:cs typeface="Georgia"/>
            </a:endParaRPr>
          </a:p>
        </p:txBody>
      </p:sp>
      <p:sp>
        <p:nvSpPr>
          <p:cNvPr id="125" name="Google Shape;125;g3f75d711436_0_140">
            <a:extLst>
              <a:ext uri="{FF2B5EF4-FFF2-40B4-BE49-F238E27FC236}">
                <a16:creationId xmlns:a16="http://schemas.microsoft.com/office/drawing/2014/main" id="{77E36C86-5D84-4E28-9499-F2E2F7D557A1}"/>
              </a:ext>
            </a:extLst>
          </p:cNvPr>
          <p:cNvSpPr>
            <a:spLocks noGrp="1"/>
          </p:cNvSpPr>
          <p:nvPr/>
        </p:nvSpPr>
        <p:spPr>
          <a:xfrm>
            <a:off x="1464300" y="1262025"/>
            <a:ext cx="5216700" cy="3581360"/>
          </a:xfrm>
          <a:prstGeom prst="rect">
            <a:avLst/>
          </a:prstGeom>
          <a:noFill/>
          <a:ln>
            <a:noFill/>
          </a:ln>
        </p:spPr>
        <p:txBody>
          <a:bodyPr spcFirstLastPara="1" wrap="square" lIns="91425" tIns="45700" rIns="91425" bIns="45700" anchor="t">
            <a:spAutoFit/>
          </a:bodyPr>
          <a:lstStyle/>
          <a:p>
            <a:pPr marL="640080" lvl="0" indent="-336550" algn="just">
              <a:spcBef>
                <a:spcPts val="1000"/>
              </a:spcBef>
              <a:spcAft>
                <a:spcPts val="0"/>
              </a:spcAft>
              <a:buClr>
                <a:schemeClr val="dk1"/>
              </a:buClr>
              <a:buSzPts val="1700"/>
              <a:buChar char="•"/>
            </a:pPr>
            <a:r>
              <a:rPr sz="1700">
                <a:solidFill>
                  <a:schemeClr val="dk1"/>
                </a:solidFill>
              </a:rPr>
              <a:t>The final harness moved away from direct STEP text edits and image-only prompting. It uses STEP-derived geometry facts, true orthographic CAD views, isolated CadQuery execution, and per-row scoring.</a:t>
            </a:r>
          </a:p>
          <a:p>
            <a:pPr marL="640080" lvl="0" indent="-336550" algn="just">
              <a:spcBef>
                <a:spcPts val="1000"/>
              </a:spcBef>
              <a:spcAft>
                <a:spcPts val="0"/>
              </a:spcAft>
              <a:buClr>
                <a:schemeClr val="dk1"/>
              </a:buClr>
              <a:buSzPts val="1700"/>
              <a:buChar char="•"/>
            </a:pPr>
            <a:endParaRPr sz="1700">
              <a:solidFill>
                <a:schemeClr val="dk1"/>
              </a:solidFill>
            </a:endParaRPr>
          </a:p>
          <a:p>
            <a:pPr marL="640080" lvl="0" indent="-336550" algn="just">
              <a:spcBef>
                <a:spcPts val="1000"/>
              </a:spcBef>
              <a:spcAft>
                <a:spcPts val="0"/>
              </a:spcAft>
              <a:buClr>
                <a:schemeClr val="dk1"/>
              </a:buClr>
              <a:buSzPts val="1700"/>
              <a:buChar char="•"/>
            </a:pPr>
            <a:r>
              <a:rPr sz="1700">
                <a:solidFill>
                  <a:schemeClr val="dk1"/>
                </a:solidFill>
              </a:rPr>
              <a:t>Key fixes included provenance-safe fresh runs, watchdog handling, identity-output rejection, true axis-aligned view rendering, candidate enumeration for local edits, and detailed failure buckets for targeted debugging.</a:t>
            </a:r>
          </a:p>
        </p:txBody>
      </p:sp>
      <p:pic>
        <p:nvPicPr>
          <p:cNvPr id="130" name="Google Shape;126;g3f75d711436_0_140"/>
          <p:cNvPicPr>
            <a:picLocks noChangeAspect="1"/>
          </p:cNvPicPr>
          <p:nvPr/>
        </p:nvPicPr>
        <p:blipFill rotWithShape="1">
          <a:blip r:embed="rId3">
            <a:alphaModFix/>
          </a:blip>
          <a:srcRect/>
          <a:stretch/>
        </p:blipFill>
        <p:spPr>
          <a:xfrm>
            <a:off x="7552100" y="962275"/>
            <a:ext cx="3667625" cy="3673200"/>
          </a:xfrm>
          <a:prstGeom prst="rect">
            <a:avLst/>
          </a:prstGeom>
          <a:ln w="9525" cap="flat" cmpd="sng">
            <a:solidFill>
              <a:schemeClr val="dk1"/>
            </a:solidFill>
            <a:prstDash val="solid"/>
            <a:round/>
          </a:ln>
        </p:spPr>
      </p:pic>
      <p:pic>
        <p:nvPicPr>
          <p:cNvPr id="131" name="Google Shape;127;g3f75d711436_0_140"/>
          <p:cNvPicPr>
            <a:picLocks noChangeAspect="1"/>
          </p:cNvPicPr>
          <p:nvPr/>
        </p:nvPicPr>
        <p:blipFill>
          <a:blip r:embed="rId4">
            <a:alphaModFix/>
          </a:blip>
          <a:stretch>
            <a:fillRect/>
          </a:stretch>
        </p:blipFill>
        <p:spPr>
          <a:xfrm>
            <a:off x="3207375" y="3514625"/>
            <a:ext cx="2469224" cy="2175100"/>
          </a:xfrm>
          <a:prstGeom prst="rect">
            <a:avLst/>
          </a:prstGeom>
          <a:ln w="9525" cap="flat" cmpd="sng">
            <a:solidFill>
              <a:schemeClr val="dk1"/>
            </a:solidFill>
            <a:prstDash val="solid"/>
            <a:round/>
          </a:ln>
        </p:spPr>
      </p:pic>
    </p:spTree>
    <p:extLst>
      <p:ext uri="{BB962C8B-B14F-4D97-AF65-F5344CB8AC3E}">
        <p14:creationId xmlns:p14="http://schemas.microsoft.com/office/powerpoint/2010/main" val="97970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Google Shape;132;g3f75d711436_0_44">
            <a:extLst>
              <a:ext uri="{FF2B5EF4-FFF2-40B4-BE49-F238E27FC236}">
                <a16:creationId xmlns:a16="http://schemas.microsoft.com/office/drawing/2014/main" id="{3BDC61C7-4A34-4C55-9EE0-579ED53153B9}"/>
              </a:ext>
            </a:extLst>
          </p:cNvPr>
          <p:cNvSpPr>
            <a:spLocks noGrp="1"/>
          </p:cNvSpPr>
          <p:nvPr>
            <p:ph type="title"/>
          </p:nvPr>
        </p:nvSpPr>
        <p:spPr>
          <a:xfrm>
            <a:off x="1385046" y="38344"/>
            <a:ext cx="9968700" cy="1325700"/>
          </a:xfrm>
          <a:prstGeom prst="rect">
            <a:avLst/>
          </a:prstGeom>
          <a:noFill/>
          <a:ln>
            <a:noFill/>
          </a:ln>
        </p:spPr>
        <p:txBody>
          <a:bodyPr spcFirstLastPara="1" wrap="square" lIns="91425" tIns="45700" rIns="91425" bIns="45700" anchor="ctr">
            <a:normAutofit/>
          </a:bodyPr>
          <a:lstStyle/>
          <a:p>
            <a:pPr marL="0" lvl="0" indent="0" algn="l">
              <a:spcBef>
                <a:spcPts val="0"/>
              </a:spcBef>
              <a:spcAft>
                <a:spcPts val="0"/>
              </a:spcAft>
              <a:buClr>
                <a:schemeClr val="dk1"/>
              </a:buClr>
              <a:buSzPts val="4400"/>
              <a:buFont typeface="Calibri"/>
              <a:buNone/>
            </a:pPr>
            <a:r>
              <a:rPr sz="3400">
                <a:latin typeface="Arial"/>
                <a:ea typeface="Arial"/>
                <a:cs typeface="Arial"/>
              </a:rPr>
              <a:t>Grounded CAD: Results</a:t>
            </a:r>
            <a:endParaRPr/>
          </a:p>
        </p:txBody>
      </p:sp>
      <p:pic>
        <p:nvPicPr>
          <p:cNvPr id="136" name="Google Shape;133;g3f75d711436_0_44"/>
          <p:cNvPicPr>
            <a:picLocks noChangeAspect="1"/>
          </p:cNvPicPr>
          <p:nvPr/>
        </p:nvPicPr>
        <p:blipFill>
          <a:blip r:embed="rId3">
            <a:alphaModFix/>
          </a:blip>
          <a:stretch>
            <a:fillRect/>
          </a:stretch>
        </p:blipFill>
        <p:spPr>
          <a:xfrm>
            <a:off x="2743599" y="1184925"/>
            <a:ext cx="7059600" cy="4630025"/>
          </a:xfrm>
          <a:prstGeom prst="rect">
            <a:avLst/>
          </a:prstGeom>
          <a:ln w="9525" cap="flat" cmpd="sng">
            <a:solidFill>
              <a:schemeClr val="dk2"/>
            </a:solidFill>
            <a:prstDash val="solid"/>
            <a:round/>
          </a:ln>
        </p:spPr>
      </p:pic>
      <p:sp>
        <p:nvSpPr>
          <p:cNvPr id="134" name="results-caption">
            <a:extLst>
              <a:ext uri="{FF2B5EF4-FFF2-40B4-BE49-F238E27FC236}">
                <a16:creationId xmlns:a16="http://schemas.microsoft.com/office/drawing/2014/main" id="{321A4DB9-41A9-4123-90EA-6A82DADC7431}"/>
              </a:ext>
            </a:extLst>
          </p:cNvPr>
          <p:cNvSpPr>
            <a:spLocks noGrp="1"/>
          </p:cNvSpPr>
          <p:nvPr/>
        </p:nvSpPr>
        <p:spPr>
          <a:xfrm>
            <a:off x="2381250" y="5857875"/>
            <a:ext cx="7524750" cy="571500"/>
          </a:xfrm>
          <a:prstGeom prst="rect">
            <a:avLst/>
          </a:prstGeom>
          <a:noFill/>
          <a:ln w="0">
            <a:noFill/>
            <a:prstDash val="solid"/>
          </a:ln>
        </p:spPr>
        <p:txBody>
          <a:bodyPr/>
          <a:lstStyle/>
          <a:p>
            <a:pPr algn="l">
              <a:defRPr sz="1350" b="0">
                <a:solidFill>
                  <a:srgbClr val="1F1F1F"/>
                </a:solidFill>
              </a:defRPr>
            </a:pPr>
            <a:r>
              <a:rPr sz="1350" b="0">
                <a:solidFill>
                  <a:srgbClr val="1F1F1F"/>
                </a:solidFill>
              </a:rPr>
              <a:t>Current interpretation: Chamfer and Volume F1 stay relatively high when outputs are valid, but Diff F1 drops when the edit lands on the wrong feature. The next improvement target is therefore feature grounding, not whole-part reconstruction.</a:t>
            </a:r>
          </a:p>
        </p:txBody>
      </p:sp>
    </p:spTree>
    <p:extLst>
      <p:ext uri="{BB962C8B-B14F-4D97-AF65-F5344CB8AC3E}">
        <p14:creationId xmlns:p14="http://schemas.microsoft.com/office/powerpoint/2010/main" val="1950278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138;g3f76e905f4e_0_33">
            <a:extLst>
              <a:ext uri="{FF2B5EF4-FFF2-40B4-BE49-F238E27FC236}">
                <a16:creationId xmlns:a16="http://schemas.microsoft.com/office/drawing/2014/main" id="{772D13D7-37CA-4E57-B517-29D16B5E044B}"/>
              </a:ext>
            </a:extLst>
          </p:cNvPr>
          <p:cNvSpPr>
            <a:spLocks noGrp="1"/>
          </p:cNvSpPr>
          <p:nvPr>
            <p:ph type="title"/>
          </p:nvPr>
        </p:nvSpPr>
        <p:spPr>
          <a:xfrm>
            <a:off x="1385046" y="38344"/>
            <a:ext cx="9968700" cy="1325700"/>
          </a:xfrm>
          <a:prstGeom prst="rect">
            <a:avLst/>
          </a:prstGeom>
          <a:noFill/>
          <a:ln>
            <a:noFill/>
          </a:ln>
        </p:spPr>
        <p:txBody>
          <a:bodyPr spcFirstLastPara="1" wrap="square" lIns="91425" tIns="45700" rIns="91425" bIns="45700" anchor="ctr">
            <a:normAutofit/>
          </a:bodyPr>
          <a:lstStyle/>
          <a:p>
            <a:pPr marL="0" lvl="0" indent="0" algn="l">
              <a:spcBef>
                <a:spcPts val="0"/>
              </a:spcBef>
              <a:spcAft>
                <a:spcPts val="0"/>
              </a:spcAft>
              <a:buClr>
                <a:schemeClr val="dk1"/>
              </a:buClr>
              <a:buSzPts val="4400"/>
              <a:buFont typeface="Calibri"/>
              <a:buNone/>
            </a:pPr>
            <a:r>
              <a:rPr sz="3400">
                <a:latin typeface="Arial"/>
                <a:ea typeface="Arial"/>
                <a:cs typeface="Arial"/>
              </a:rPr>
              <a:t>Grounded CAD: Cost Efficiency &amp; Scalability</a:t>
            </a:r>
            <a:endParaRPr/>
          </a:p>
        </p:txBody>
      </p:sp>
      <p:sp>
        <p:nvSpPr>
          <p:cNvPr id="139" name="efficiency-panel-left">
            <a:extLst>
              <a:ext uri="{FF2B5EF4-FFF2-40B4-BE49-F238E27FC236}">
                <a16:creationId xmlns:a16="http://schemas.microsoft.com/office/drawing/2014/main" id="{F661FA0E-BC9A-4C6B-AC60-B04432F31A16}"/>
              </a:ext>
            </a:extLst>
          </p:cNvPr>
          <p:cNvSpPr>
            <a:spLocks noGrp="1"/>
          </p:cNvSpPr>
          <p:nvPr/>
        </p:nvSpPr>
        <p:spPr>
          <a:xfrm>
            <a:off x="1524000" y="1476375"/>
            <a:ext cx="4381500" cy="3619500"/>
          </a:xfrm>
          <a:prstGeom prst="roundRect">
            <a:avLst>
              <a:gd name="adj" fmla="val 526"/>
            </a:avLst>
          </a:prstGeom>
          <a:solidFill>
            <a:srgbClr val="EEF5F2"/>
          </a:solidFill>
          <a:ln w="9525">
            <a:solidFill>
              <a:srgbClr val="2F5D50"/>
            </a:solidFill>
            <a:prstDash val="solid"/>
          </a:ln>
        </p:spPr>
        <p:txBody>
          <a:bodyPr/>
          <a:lstStyle/>
          <a:p>
            <a:endParaRPr lang="en-US"/>
          </a:p>
        </p:txBody>
      </p:sp>
      <p:sp>
        <p:nvSpPr>
          <p:cNvPr id="140" name="efficiency-panel-right">
            <a:extLst>
              <a:ext uri="{FF2B5EF4-FFF2-40B4-BE49-F238E27FC236}">
                <a16:creationId xmlns:a16="http://schemas.microsoft.com/office/drawing/2014/main" id="{1594E632-B6AE-4142-8704-0DBA3CA197CC}"/>
              </a:ext>
            </a:extLst>
          </p:cNvPr>
          <p:cNvSpPr>
            <a:spLocks noGrp="1"/>
          </p:cNvSpPr>
          <p:nvPr/>
        </p:nvSpPr>
        <p:spPr>
          <a:xfrm>
            <a:off x="6572250" y="1476375"/>
            <a:ext cx="4286250" cy="3619500"/>
          </a:xfrm>
          <a:prstGeom prst="roundRect">
            <a:avLst>
              <a:gd name="adj" fmla="val 526"/>
            </a:avLst>
          </a:prstGeom>
          <a:solidFill>
            <a:srgbClr val="F6F6F6"/>
          </a:solidFill>
          <a:ln w="9525">
            <a:solidFill>
              <a:srgbClr val="2F5D50"/>
            </a:solidFill>
            <a:prstDash val="solid"/>
          </a:ln>
        </p:spPr>
        <p:txBody>
          <a:bodyPr/>
          <a:lstStyle/>
          <a:p>
            <a:endParaRPr lang="en-US"/>
          </a:p>
        </p:txBody>
      </p:sp>
      <p:sp>
        <p:nvSpPr>
          <p:cNvPr id="141" name="efficiency-left-title">
            <a:extLst>
              <a:ext uri="{FF2B5EF4-FFF2-40B4-BE49-F238E27FC236}">
                <a16:creationId xmlns:a16="http://schemas.microsoft.com/office/drawing/2014/main" id="{EBA7DDC7-9BB3-479A-A9E1-21C3050D6DCB}"/>
              </a:ext>
            </a:extLst>
          </p:cNvPr>
          <p:cNvSpPr>
            <a:spLocks noGrp="1"/>
          </p:cNvSpPr>
          <p:nvPr/>
        </p:nvSpPr>
        <p:spPr>
          <a:xfrm>
            <a:off x="1809750" y="1762125"/>
            <a:ext cx="3714750" cy="361950"/>
          </a:xfrm>
          <a:prstGeom prst="rect">
            <a:avLst/>
          </a:prstGeom>
          <a:noFill/>
          <a:ln w="0">
            <a:noFill/>
            <a:prstDash val="solid"/>
          </a:ln>
        </p:spPr>
        <p:txBody>
          <a:bodyPr/>
          <a:lstStyle/>
          <a:p>
            <a:pPr algn="l">
              <a:defRPr sz="2100" b="1">
                <a:solidFill>
                  <a:srgbClr val="000000"/>
                </a:solidFill>
              </a:defRPr>
            </a:pPr>
            <a:r>
              <a:rPr sz="2100" b="1">
                <a:solidFill>
                  <a:srgbClr val="000000"/>
                </a:solidFill>
              </a:rPr>
              <a:t>Token efficiency</a:t>
            </a:r>
          </a:p>
        </p:txBody>
      </p:sp>
      <p:sp>
        <p:nvSpPr>
          <p:cNvPr id="142" name="efficiency-left-body">
            <a:extLst>
              <a:ext uri="{FF2B5EF4-FFF2-40B4-BE49-F238E27FC236}">
                <a16:creationId xmlns:a16="http://schemas.microsoft.com/office/drawing/2014/main" id="{82DF9FD9-5317-4615-B68B-6130C72F544C}"/>
              </a:ext>
            </a:extLst>
          </p:cNvPr>
          <p:cNvSpPr>
            <a:spLocks noGrp="1"/>
          </p:cNvSpPr>
          <p:nvPr/>
        </p:nvSpPr>
        <p:spPr>
          <a:xfrm>
            <a:off x="1809750" y="2286000"/>
            <a:ext cx="3714750" cy="2190750"/>
          </a:xfrm>
          <a:prstGeom prst="rect">
            <a:avLst/>
          </a:prstGeom>
          <a:noFill/>
          <a:ln w="0">
            <a:noFill/>
            <a:prstDash val="solid"/>
          </a:ln>
        </p:spPr>
        <p:txBody>
          <a:bodyPr/>
          <a:lstStyle/>
          <a:p>
            <a:pPr algn="l">
              <a:defRPr sz="1650" b="0">
                <a:solidFill>
                  <a:srgbClr val="000000"/>
                </a:solidFill>
              </a:defRPr>
            </a:pPr>
            <a:r>
              <a:rPr sz="1650" b="0">
                <a:solidFill>
                  <a:srgbClr val="000000"/>
                </a:solidFill>
              </a:rPr>
              <a:t>The harness avoids sending full STEP text to the model.</a:t>
            </a:r>
          </a:p>
          <a:p>
            <a:endParaRPr sz="1650" b="0">
              <a:solidFill>
                <a:srgbClr val="000000"/>
              </a:solidFill>
            </a:endParaRPr>
          </a:p>
          <a:p>
            <a:pPr algn="l">
              <a:defRPr sz="1650" b="0">
                <a:solidFill>
                  <a:srgbClr val="000000"/>
                </a:solidFill>
              </a:defRPr>
            </a:pPr>
            <a:r>
              <a:rPr sz="1650" b="0">
                <a:solidFill>
                  <a:srgbClr val="000000"/>
                </a:solidFill>
              </a:rPr>
              <a:t>Instead, it sends compact geometry summaries, orthographic view sheets, parsed dimensions, and targeted retry feedback.</a:t>
            </a:r>
          </a:p>
          <a:p>
            <a:endParaRPr sz="1650" b="0">
              <a:solidFill>
                <a:srgbClr val="000000"/>
              </a:solidFill>
            </a:endParaRPr>
          </a:p>
          <a:p>
            <a:pPr algn="l">
              <a:defRPr sz="1650" b="0">
                <a:solidFill>
                  <a:srgbClr val="000000"/>
                </a:solidFill>
              </a:defRPr>
            </a:pPr>
            <a:r>
              <a:rPr sz="1650" b="0">
                <a:solidFill>
                  <a:srgbClr val="000000"/>
                </a:solidFill>
              </a:rPr>
              <a:t>Deterministic candidates handle cheap local edits before spending GPT calls.</a:t>
            </a:r>
          </a:p>
        </p:txBody>
      </p:sp>
      <p:sp>
        <p:nvSpPr>
          <p:cNvPr id="143" name="efficiency-right-title">
            <a:extLst>
              <a:ext uri="{FF2B5EF4-FFF2-40B4-BE49-F238E27FC236}">
                <a16:creationId xmlns:a16="http://schemas.microsoft.com/office/drawing/2014/main" id="{1CC4AD10-D3F0-4674-A2CB-5D3E4B85B0E8}"/>
              </a:ext>
            </a:extLst>
          </p:cNvPr>
          <p:cNvSpPr>
            <a:spLocks noGrp="1"/>
          </p:cNvSpPr>
          <p:nvPr/>
        </p:nvSpPr>
        <p:spPr>
          <a:xfrm>
            <a:off x="6858000" y="1762125"/>
            <a:ext cx="3714750" cy="361950"/>
          </a:xfrm>
          <a:prstGeom prst="rect">
            <a:avLst/>
          </a:prstGeom>
          <a:noFill/>
          <a:ln w="0">
            <a:noFill/>
            <a:prstDash val="solid"/>
          </a:ln>
        </p:spPr>
        <p:txBody>
          <a:bodyPr/>
          <a:lstStyle/>
          <a:p>
            <a:pPr algn="l">
              <a:defRPr sz="2100" b="1">
                <a:solidFill>
                  <a:srgbClr val="000000"/>
                </a:solidFill>
              </a:defRPr>
            </a:pPr>
            <a:r>
              <a:rPr sz="2100" b="1">
                <a:solidFill>
                  <a:srgbClr val="000000"/>
                </a:solidFill>
              </a:rPr>
              <a:t>Scalability safeguards</a:t>
            </a:r>
          </a:p>
        </p:txBody>
      </p:sp>
      <p:sp>
        <p:nvSpPr>
          <p:cNvPr id="144" name="efficiency-right-body">
            <a:extLst>
              <a:ext uri="{FF2B5EF4-FFF2-40B4-BE49-F238E27FC236}">
                <a16:creationId xmlns:a16="http://schemas.microsoft.com/office/drawing/2014/main" id="{803B4D40-8A9E-4287-A522-0F6C0EE2F26B}"/>
              </a:ext>
            </a:extLst>
          </p:cNvPr>
          <p:cNvSpPr>
            <a:spLocks noGrp="1"/>
          </p:cNvSpPr>
          <p:nvPr/>
        </p:nvSpPr>
        <p:spPr>
          <a:xfrm>
            <a:off x="6858000" y="2286000"/>
            <a:ext cx="3571875" cy="2000250"/>
          </a:xfrm>
          <a:prstGeom prst="rect">
            <a:avLst/>
          </a:prstGeom>
          <a:noFill/>
          <a:ln w="0">
            <a:noFill/>
            <a:prstDash val="solid"/>
          </a:ln>
        </p:spPr>
        <p:txBody>
          <a:bodyPr/>
          <a:lstStyle/>
          <a:p>
            <a:pPr algn="l">
              <a:defRPr sz="1650" b="0">
                <a:solidFill>
                  <a:srgbClr val="000000"/>
                </a:solidFill>
              </a:defRPr>
            </a:pPr>
            <a:r>
              <a:rPr sz="1650" b="0">
                <a:solidFill>
                  <a:srgbClr val="000000"/>
                </a:solidFill>
              </a:rPr>
              <a:t>Each row runs in a child process with a watchdog.</a:t>
            </a:r>
          </a:p>
          <a:p>
            <a:endParaRPr sz="1650" b="0">
              <a:solidFill>
                <a:srgbClr val="000000"/>
              </a:solidFill>
            </a:endParaRPr>
          </a:p>
          <a:p>
            <a:pPr algn="l">
              <a:defRPr sz="1650" b="0">
                <a:solidFill>
                  <a:srgbClr val="000000"/>
                </a:solidFill>
              </a:defRPr>
            </a:pPr>
            <a:r>
              <a:rPr sz="1650" b="0">
                <a:solidFill>
                  <a:srgbClr val="000000"/>
                </a:solidFill>
              </a:rPr>
              <a:t>Large assemblies skip expensive source rendering when it risks freezing the benchmark.</a:t>
            </a:r>
          </a:p>
          <a:p>
            <a:endParaRPr sz="1650" b="0">
              <a:solidFill>
                <a:srgbClr val="000000"/>
              </a:solidFill>
            </a:endParaRPr>
          </a:p>
          <a:p>
            <a:pPr algn="l">
              <a:defRPr sz="1650" b="0">
                <a:solidFill>
                  <a:srgbClr val="000000"/>
                </a:solidFill>
              </a:defRPr>
            </a:pPr>
            <a:r>
              <a:rPr sz="1650" b="0">
                <a:solidFill>
                  <a:srgbClr val="000000"/>
                </a:solidFill>
              </a:rPr>
              <a:t>Timeouts are no longer scored as ordinary valid predictions.</a:t>
            </a:r>
          </a:p>
        </p:txBody>
      </p:sp>
    </p:spTree>
    <p:extLst>
      <p:ext uri="{BB962C8B-B14F-4D97-AF65-F5344CB8AC3E}">
        <p14:creationId xmlns:p14="http://schemas.microsoft.com/office/powerpoint/2010/main" val="363432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Google Shape;143;g3f75d711436_0_49">
            <a:extLst>
              <a:ext uri="{FF2B5EF4-FFF2-40B4-BE49-F238E27FC236}">
                <a16:creationId xmlns:a16="http://schemas.microsoft.com/office/drawing/2014/main" id="{5D610A45-BF1D-4E4B-9032-699BBA48C043}"/>
              </a:ext>
            </a:extLst>
          </p:cNvPr>
          <p:cNvSpPr>
            <a:spLocks noGrp="1"/>
          </p:cNvSpPr>
          <p:nvPr>
            <p:ph type="title"/>
          </p:nvPr>
        </p:nvSpPr>
        <p:spPr>
          <a:xfrm>
            <a:off x="1376321" y="-6"/>
            <a:ext cx="10986900" cy="1325700"/>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Grounded CAD: Visual evidence and examples</a:t>
            </a:r>
          </a:p>
        </p:txBody>
      </p:sp>
      <p:graphicFrame>
        <p:nvGraphicFramePr>
          <p:cNvPr id="148" name="Google Shape;144;g3f75d711436_0_49"/>
          <p:cNvGraphicFramePr/>
          <p:nvPr/>
        </p:nvGraphicFramePr>
        <p:xfrm>
          <a:off x="2371372" y="1025352"/>
          <a:ext cx="8412475" cy="4073250"/>
        </p:xfrm>
        <a:graphic>
          <a:graphicData uri="http://schemas.openxmlformats.org/drawingml/2006/table">
            <a:tbl>
              <a:tblPr>
                <a:tableStyleId>{941A4BA4-8928-4C74-B3C0-A9A97B3EDFBC}</a:tableStyleId>
              </a:tblPr>
              <a:tblGrid>
                <a:gridCol w="4059925">
                  <a:extLst>
                    <a:ext uri="{9D8B030D-6E8A-4147-A177-3AD203B41FA5}">
                      <a16:colId xmlns:a16="http://schemas.microsoft.com/office/drawing/2014/main" val="20000"/>
                    </a:ext>
                  </a:extLst>
                </a:gridCol>
                <a:gridCol w="4352550">
                  <a:extLst>
                    <a:ext uri="{9D8B030D-6E8A-4147-A177-3AD203B41FA5}">
                      <a16:colId xmlns:a16="http://schemas.microsoft.com/office/drawing/2014/main" val="20001"/>
                    </a:ext>
                  </a:extLst>
                </a:gridCol>
              </a:tblGrid>
              <a:tr h="633300">
                <a:tc>
                  <a:txBody>
                    <a:bodyPr/>
                    <a:lstStyle/>
                    <a:p>
                      <a:pPr marL="0" marR="0" lvl="0" indent="0" algn="ctr">
                        <a:lnSpc>
                          <a:spcPct val="100000"/>
                        </a:lnSpc>
                        <a:spcBef>
                          <a:spcPts val="0"/>
                        </a:spcBef>
                        <a:spcAft>
                          <a:spcPts val="0"/>
                        </a:spcAft>
                        <a:buNone/>
                      </a:pPr>
                      <a:r>
                        <a:rPr sz="2200" b="1" u="none" cap="none"/>
                        <a:t>Initial Model</a:t>
                      </a:r>
                      <a:endParaRPr sz="18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2200" b="1" i="0" u="none" cap="none">
                          <a:solidFill>
                            <a:schemeClr val="dk1"/>
                          </a:solidFill>
                          <a:latin typeface="Arial"/>
                          <a:ea typeface="Arial"/>
                          <a:cs typeface="Arial"/>
                        </a:rPr>
                        <a:t>Grounded CAD</a:t>
                      </a:r>
                      <a:endParaRPr sz="2200"/>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extLst>
                  <a:ext uri="{0D108BD9-81ED-4DB2-BD59-A6C34878D82A}">
                    <a16:rowId xmlns:a16="http://schemas.microsoft.com/office/drawing/2014/main" val="10000"/>
                  </a:ext>
                </a:extLst>
              </a:tr>
              <a:tr h="1770350">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1"/>
                  </a:ext>
                </a:extLst>
              </a:tr>
              <a:tr h="834800">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2"/>
                  </a:ext>
                </a:extLst>
              </a:tr>
              <a:tr h="834800">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3"/>
                  </a:ext>
                </a:extLst>
              </a:tr>
            </a:tbl>
          </a:graphicData>
        </a:graphic>
      </p:graphicFrame>
      <p:pic>
        <p:nvPicPr>
          <p:cNvPr id="149" name="Google Shape;145;g3f75d711436_0_49"/>
          <p:cNvPicPr>
            <a:picLocks noChangeAspect="1"/>
          </p:cNvPicPr>
          <p:nvPr/>
        </p:nvPicPr>
        <p:blipFill>
          <a:blip r:embed="rId3">
            <a:alphaModFix/>
          </a:blip>
          <a:stretch>
            <a:fillRect/>
          </a:stretch>
        </p:blipFill>
        <p:spPr>
          <a:xfrm>
            <a:off x="7726350" y="1792100"/>
            <a:ext cx="1883775" cy="1539200"/>
          </a:xfrm>
          <a:prstGeom prst="rect">
            <a:avLst/>
          </a:prstGeom>
          <a:ln>
            <a:noFill/>
          </a:ln>
        </p:spPr>
      </p:pic>
      <p:sp>
        <p:nvSpPr>
          <p:cNvPr id="146" name="examples-note">
            <a:extLst>
              <a:ext uri="{FF2B5EF4-FFF2-40B4-BE49-F238E27FC236}">
                <a16:creationId xmlns:a16="http://schemas.microsoft.com/office/drawing/2014/main" id="{8E30C93A-CF90-466A-9EE6-9E2CF9C478FB}"/>
              </a:ext>
            </a:extLst>
          </p:cNvPr>
          <p:cNvSpPr>
            <a:spLocks noGrp="1"/>
          </p:cNvSpPr>
          <p:nvPr/>
        </p:nvSpPr>
        <p:spPr>
          <a:xfrm>
            <a:off x="2571750" y="5429250"/>
            <a:ext cx="7334250" cy="666750"/>
          </a:xfrm>
          <a:prstGeom prst="rect">
            <a:avLst/>
          </a:prstGeom>
          <a:noFill/>
          <a:ln w="0">
            <a:noFill/>
            <a:prstDash val="solid"/>
          </a:ln>
        </p:spPr>
        <p:txBody>
          <a:bodyPr/>
          <a:lstStyle/>
          <a:p>
            <a:pPr algn="l">
              <a:defRPr sz="1350" b="0">
                <a:solidFill>
                  <a:srgbClr val="000000"/>
                </a:solidFill>
              </a:defRPr>
            </a:pPr>
            <a:r>
              <a:rPr sz="1350" b="0">
                <a:solidFill>
                  <a:srgbClr val="000000"/>
                </a:solidFill>
              </a:rPr>
              <a:t>Example rows compare the original STEP-derived views with the edited output. The table is intentionally visual: it helps diagnose whether a low D score is caused by no-op output, wrong target selection, or a real but incomplete edit.</a:t>
            </a:r>
          </a:p>
        </p:txBody>
      </p:sp>
    </p:spTree>
    <p:extLst>
      <p:ext uri="{BB962C8B-B14F-4D97-AF65-F5344CB8AC3E}">
        <p14:creationId xmlns:p14="http://schemas.microsoft.com/office/powerpoint/2010/main" val="61837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Google Shape;150;g3f75d711436_0_34">
            <a:extLst>
              <a:ext uri="{FF2B5EF4-FFF2-40B4-BE49-F238E27FC236}">
                <a16:creationId xmlns:a16="http://schemas.microsoft.com/office/drawing/2014/main" id="{8D3528DD-5D9A-40D4-9F10-03A81784FD3C}"/>
              </a:ext>
            </a:extLst>
          </p:cNvPr>
          <p:cNvSpPr>
            <a:spLocks noGrp="1"/>
          </p:cNvSpPr>
          <p:nvPr>
            <p:ph type="title"/>
          </p:nvPr>
        </p:nvSpPr>
        <p:spPr>
          <a:xfrm>
            <a:off x="1411225" y="86500"/>
            <a:ext cx="10661700" cy="1325700"/>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Ablation Study: What Actually Improved Diff F1</a:t>
            </a:r>
            <a:endParaRPr sz="3400"/>
          </a:p>
        </p:txBody>
      </p:sp>
      <p:sp>
        <p:nvSpPr>
          <p:cNvPr id="151" name="Google Shape;151;g3f75d711436_0_34">
            <a:extLst>
              <a:ext uri="{FF2B5EF4-FFF2-40B4-BE49-F238E27FC236}">
                <a16:creationId xmlns:a16="http://schemas.microsoft.com/office/drawing/2014/main" id="{8F1A0D7E-65A8-4158-849F-7366DC0BF4EC}"/>
              </a:ext>
            </a:extLst>
          </p:cNvPr>
          <p:cNvSpPr>
            <a:spLocks noGrp="1"/>
          </p:cNvSpPr>
          <p:nvPr/>
        </p:nvSpPr>
        <p:spPr>
          <a:xfrm>
            <a:off x="1561338" y="1412210"/>
            <a:ext cx="9758934" cy="640040"/>
          </a:xfrm>
          <a:prstGeom prst="rect">
            <a:avLst/>
          </a:prstGeom>
          <a:noFill/>
          <a:ln>
            <a:noFill/>
          </a:ln>
        </p:spPr>
        <p:txBody>
          <a:bodyPr spcFirstLastPara="1" wrap="square" lIns="91425" tIns="45700" rIns="91425" bIns="45700" anchor="t">
            <a:spAutoFit/>
          </a:bodyPr>
          <a:lstStyle/>
          <a:p>
            <a:pPr marL="285750" marR="0" lvl="0" indent="-285750" algn="l">
              <a:lnSpc>
                <a:spcPct val="100000"/>
              </a:lnSpc>
              <a:spcBef>
                <a:spcPts val="0"/>
              </a:spcBef>
              <a:spcAft>
                <a:spcPts val="0"/>
              </a:spcAft>
              <a:buClr>
                <a:srgbClr val="000000"/>
              </a:buClr>
              <a:buSzPts val="1800"/>
              <a:buFont typeface="Arial"/>
              <a:buChar char="•"/>
              <a:defRPr sz="1650">
                <a:solidFill>
                  <a:srgbClr val="000000"/>
                </a:solidFill>
              </a:defRPr>
            </a:pPr>
            <a:r>
              <a:rPr sz="1650" b="0" i="0" u="none" cap="none">
                <a:solidFill>
                  <a:srgbClr val="000000"/>
                </a:solidFill>
                <a:latin typeface="Arial"/>
                <a:ea typeface="Arial"/>
                <a:cs typeface="Arial"/>
              </a:rPr>
              <a:t>We did not use a multi-agent architecture. The strongest improvements came from better grounding, safer execution, and failure-aware retries.</a:t>
            </a:r>
            <a:endParaRPr/>
          </a:p>
        </p:txBody>
      </p:sp>
      <p:graphicFrame>
        <p:nvGraphicFramePr>
          <p:cNvPr id="174" name="Google Shape;152;g3f75d711436_0_34"/>
          <p:cNvGraphicFramePr/>
          <p:nvPr/>
        </p:nvGraphicFramePr>
        <p:xfrm>
          <a:off x="2066543" y="1996985"/>
          <a:ext cx="3000000" cy="3000000"/>
        </p:xfrm>
        <a:graphic>
          <a:graphicData uri="http://schemas.openxmlformats.org/drawingml/2006/table">
            <a:tbl>
              <a:tblPr>
                <a:tableStyleId>{941A4BA4-8928-4C74-B3C0-A9A97B3EDFBC}</a:tableStyleId>
              </a:tblPr>
              <a:tblGrid>
                <a:gridCol w="2240275">
                  <a:extLst>
                    <a:ext uri="{9D8B030D-6E8A-4147-A177-3AD203B41FA5}">
                      <a16:colId xmlns:a16="http://schemas.microsoft.com/office/drawing/2014/main" val="20000"/>
                    </a:ext>
                  </a:extLst>
                </a:gridCol>
                <a:gridCol w="2228100">
                  <a:extLst>
                    <a:ext uri="{9D8B030D-6E8A-4147-A177-3AD203B41FA5}">
                      <a16:colId xmlns:a16="http://schemas.microsoft.com/office/drawing/2014/main" val="20001"/>
                    </a:ext>
                  </a:extLst>
                </a:gridCol>
              </a:tblGrid>
              <a:tr h="368800">
                <a:tc>
                  <a:txBody>
                    <a:bodyPr/>
                    <a:lstStyle/>
                    <a:p>
                      <a:pPr marL="0" marR="0" lvl="0" indent="0" algn="ctr">
                        <a:lnSpc>
                          <a:spcPct val="100000"/>
                        </a:lnSpc>
                        <a:spcBef>
                          <a:spcPts val="0"/>
                        </a:spcBef>
                        <a:spcAft>
                          <a:spcPts val="0"/>
                        </a:spcAft>
                        <a:buNone/>
                      </a:pPr>
                      <a:r>
                        <a:rPr sz="1400" b="1" u="none" cap="none"/>
                        <a:t>Agent</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tc>
                  <a:txBody>
                    <a:bodyPr/>
                    <a:lstStyle/>
                    <a:p>
                      <a:pPr marL="0" marR="0" lvl="0" indent="0" algn="ctr">
                        <a:lnSpc>
                          <a:spcPct val="100000"/>
                        </a:lnSpc>
                        <a:spcBef>
                          <a:spcPts val="0"/>
                        </a:spcBef>
                        <a:spcAft>
                          <a:spcPts val="0"/>
                        </a:spcAft>
                        <a:buNone/>
                      </a:pPr>
                      <a:r>
                        <a:rPr sz="1400" b="1" u="none" cap="none"/>
                        <a:t>Success Rate</a:t>
                      </a:r>
                      <a:endParaRPr b="1"/>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solidFill>
                      <a:srgbClr val="C6C6C6"/>
                    </a:solidFill>
                  </a:tcPr>
                </a:tc>
                <a:extLst>
                  <a:ext uri="{0D108BD9-81ED-4DB2-BD59-A6C34878D82A}">
                    <a16:rowId xmlns:a16="http://schemas.microsoft.com/office/drawing/2014/main" val="10000"/>
                  </a:ext>
                </a:extLst>
              </a:tr>
              <a:tr h="448700">
                <a:tc>
                  <a:txBody>
                    <a:bodyPr/>
                    <a:lstStyle/>
                    <a:p>
                      <a:pPr marL="0" marR="0" lvl="0" indent="0" algn="ctr">
                        <a:lnSpc>
                          <a:spcPct val="100000"/>
                        </a:lnSpc>
                        <a:spcBef>
                          <a:spcPts val="0"/>
                        </a:spcBef>
                        <a:spcAft>
                          <a:spcPts val="0"/>
                        </a:spcAft>
                        <a:buNone/>
                      </a:pPr>
                      <a:r>
                        <a:rPr sz="1400" u="none" cap="none"/>
                        <a:t>Grounder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1"/>
                  </a:ext>
                </a:extLst>
              </a:tr>
              <a:tr h="448700">
                <a:tc>
                  <a:txBody>
                    <a:bodyPr/>
                    <a:lstStyle/>
                    <a:p>
                      <a:pPr marL="0" marR="0" lvl="0" indent="0" algn="ctr">
                        <a:lnSpc>
                          <a:spcPct val="100000"/>
                        </a:lnSpc>
                        <a:spcBef>
                          <a:spcPts val="0"/>
                        </a:spcBef>
                        <a:spcAft>
                          <a:spcPts val="0"/>
                        </a:spcAft>
                        <a:buNone/>
                      </a:pPr>
                      <a:r>
                        <a:rPr sz="1400" u="none" cap="none"/>
                        <a:t>Classifier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2"/>
                  </a:ext>
                </a:extLst>
              </a:tr>
              <a:tr h="448700">
                <a:tc>
                  <a:txBody>
                    <a:bodyPr/>
                    <a:lstStyle/>
                    <a:p>
                      <a:pPr marL="0" marR="0" lvl="0" indent="0" algn="ctr">
                        <a:lnSpc>
                          <a:spcPct val="100000"/>
                        </a:lnSpc>
                        <a:spcBef>
                          <a:spcPts val="0"/>
                        </a:spcBef>
                        <a:spcAft>
                          <a:spcPts val="0"/>
                        </a:spcAft>
                        <a:buNone/>
                      </a:pPr>
                      <a:r>
                        <a:rPr sz="1400" u="none" cap="none"/>
                        <a:t>Planner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3"/>
                  </a:ext>
                </a:extLst>
              </a:tr>
              <a:tr h="448700">
                <a:tc>
                  <a:txBody>
                    <a:bodyPr/>
                    <a:lstStyle/>
                    <a:p>
                      <a:pPr marL="0" marR="0" lvl="0" indent="0" algn="ctr">
                        <a:lnSpc>
                          <a:spcPct val="100000"/>
                        </a:lnSpc>
                        <a:spcBef>
                          <a:spcPts val="0"/>
                        </a:spcBef>
                        <a:spcAft>
                          <a:spcPts val="0"/>
                        </a:spcAft>
                        <a:buNone/>
                      </a:pPr>
                      <a:r>
                        <a:rPr sz="1400" u="none" cap="none"/>
                        <a:t>Executor </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4"/>
                  </a:ext>
                </a:extLst>
              </a:tr>
              <a:tr h="448700">
                <a:tc>
                  <a:txBody>
                    <a:bodyPr/>
                    <a:lstStyle/>
                    <a:p>
                      <a:pPr marL="0" marR="0" lvl="0" indent="0" algn="ctr">
                        <a:lnSpc>
                          <a:spcPct val="100000"/>
                        </a:lnSpc>
                        <a:spcBef>
                          <a:spcPts val="0"/>
                        </a:spcBef>
                        <a:spcAft>
                          <a:spcPts val="0"/>
                        </a:spcAft>
                        <a:buNone/>
                      </a:pPr>
                      <a:r>
                        <a:rPr sz="1400" u="none" cap="none"/>
                        <a:t>Verifier</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5"/>
                  </a:ext>
                </a:extLst>
              </a:tr>
              <a:tr h="448700">
                <a:tc>
                  <a:txBody>
                    <a:bodyPr/>
                    <a:lstStyle/>
                    <a:p>
                      <a:pPr marL="0" marR="0" lvl="0" indent="0" algn="ctr">
                        <a:lnSpc>
                          <a:spcPct val="100000"/>
                        </a:lnSpc>
                        <a:spcBef>
                          <a:spcPts val="0"/>
                        </a:spcBef>
                        <a:spcAft>
                          <a:spcPts val="0"/>
                        </a:spcAft>
                        <a:buNone/>
                      </a:pPr>
                      <a:r>
                        <a:rPr sz="1400" u="none" cap="none"/>
                        <a:t>Critic</a:t>
                      </a:r>
                      <a:endParaRPr/>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tc>
                  <a:txBody>
                    <a:bodyPr/>
                    <a:lstStyle/>
                    <a:p>
                      <a:pPr marL="0" marR="0" lvl="0" indent="0" algn="l">
                        <a:lnSpc>
                          <a:spcPct val="100000"/>
                        </a:lnSpc>
                        <a:spcBef>
                          <a:spcPts val="0"/>
                        </a:spcBef>
                        <a:spcAft>
                          <a:spcPts val="0"/>
                        </a:spcAft>
                        <a:buNone/>
                      </a:pPr>
                      <a:endParaRPr sz="1400" u="none" cap="none"/>
                    </a:p>
                  </a:txBody>
                  <a:tcPr marL="91450" marR="91450" marT="45725" marB="45725" anchor="ctr">
                    <a:lnL w="9525" cmpd="sng">
                      <a:solidFill>
                        <a:schemeClr val="dk1"/>
                      </a:solidFill>
                      <a:prstDash val="solid"/>
                    </a:lnL>
                    <a:lnR w="9525" cmpd="sng">
                      <a:solidFill>
                        <a:schemeClr val="dk1"/>
                      </a:solidFill>
                      <a:prstDash val="solid"/>
                    </a:lnR>
                    <a:lnT w="9525" cmpd="sng">
                      <a:solidFill>
                        <a:schemeClr val="dk1"/>
                      </a:solidFill>
                      <a:prstDash val="solid"/>
                    </a:lnT>
                    <a:lnB w="9525" cmpd="sng">
                      <a:solidFill>
                        <a:schemeClr val="dk1"/>
                      </a:solidFill>
                      <a:prstDash val="solid"/>
                    </a:lnB>
                  </a:tcPr>
                </a:tc>
                <a:extLst>
                  <a:ext uri="{0D108BD9-81ED-4DB2-BD59-A6C34878D82A}">
                    <a16:rowId xmlns:a16="http://schemas.microsoft.com/office/drawing/2014/main" val="10006"/>
                  </a:ext>
                </a:extLst>
              </a:tr>
            </a:tbl>
          </a:graphicData>
        </a:graphic>
      </p:graphicFrame>
      <p:pic>
        <p:nvPicPr>
          <p:cNvPr id="175" name="Google Shape;153;g3f75d711436_0_34"/>
          <p:cNvPicPr>
            <a:picLocks noChangeAspect="1"/>
          </p:cNvPicPr>
          <p:nvPr/>
        </p:nvPicPr>
        <p:blipFill rotWithShape="1">
          <a:blip r:embed="rId3">
            <a:alphaModFix/>
          </a:blip>
          <a:srcRect/>
          <a:stretch/>
        </p:blipFill>
        <p:spPr>
          <a:xfrm>
            <a:off x="6910677" y="2106629"/>
            <a:ext cx="4961572" cy="2750673"/>
          </a:xfrm>
          <a:prstGeom prst="rect">
            <a:avLst/>
          </a:prstGeom>
          <a:ln w="9525" cap="flat" cmpd="sng">
            <a:solidFill>
              <a:srgbClr val="000000"/>
            </a:solidFill>
            <a:prstDash val="solid"/>
            <a:round/>
          </a:ln>
        </p:spPr>
      </p:pic>
      <p:sp>
        <p:nvSpPr>
          <p:cNvPr id="154" name="ablation-clean-canvas">
            <a:extLst>
              <a:ext uri="{FF2B5EF4-FFF2-40B4-BE49-F238E27FC236}">
                <a16:creationId xmlns:a16="http://schemas.microsoft.com/office/drawing/2014/main" id="{8AC85C69-9711-457B-A173-D086531F3989}"/>
              </a:ext>
            </a:extLst>
          </p:cNvPr>
          <p:cNvSpPr>
            <a:spLocks noGrp="1"/>
          </p:cNvSpPr>
          <p:nvPr/>
        </p:nvSpPr>
        <p:spPr>
          <a:xfrm>
            <a:off x="1571625" y="1952625"/>
            <a:ext cx="10334625" cy="3333750"/>
          </a:xfrm>
          <a:prstGeom prst="rect">
            <a:avLst/>
          </a:prstGeom>
          <a:solidFill>
            <a:srgbClr val="FFFFFF"/>
          </a:solidFill>
          <a:ln w="0">
            <a:noFill/>
            <a:prstDash val="solid"/>
          </a:ln>
        </p:spPr>
        <p:txBody>
          <a:bodyPr/>
          <a:lstStyle/>
          <a:p>
            <a:endParaRPr lang="en-US"/>
          </a:p>
        </p:txBody>
      </p:sp>
      <p:sp>
        <p:nvSpPr>
          <p:cNvPr id="155" name="ablation-table-frame">
            <a:extLst>
              <a:ext uri="{FF2B5EF4-FFF2-40B4-BE49-F238E27FC236}">
                <a16:creationId xmlns:a16="http://schemas.microsoft.com/office/drawing/2014/main" id="{BEB007D9-E21F-4057-824F-6FB380C3D32F}"/>
              </a:ext>
            </a:extLst>
          </p:cNvPr>
          <p:cNvSpPr>
            <a:spLocks noGrp="1"/>
          </p:cNvSpPr>
          <p:nvPr/>
        </p:nvSpPr>
        <p:spPr>
          <a:xfrm>
            <a:off x="1762125" y="2095500"/>
            <a:ext cx="5810250" cy="2857500"/>
          </a:xfrm>
          <a:prstGeom prst="roundRect">
            <a:avLst>
              <a:gd name="adj" fmla="val 667"/>
            </a:avLst>
          </a:prstGeom>
          <a:solidFill>
            <a:srgbClr val="FFFFFF"/>
          </a:solidFill>
          <a:ln w="9525">
            <a:solidFill>
              <a:srgbClr val="2F5D50"/>
            </a:solidFill>
            <a:prstDash val="solid"/>
          </a:ln>
        </p:spPr>
        <p:txBody>
          <a:bodyPr/>
          <a:lstStyle/>
          <a:p>
            <a:endParaRPr lang="en-US"/>
          </a:p>
        </p:txBody>
      </p:sp>
      <p:sp>
        <p:nvSpPr>
          <p:cNvPr id="156" name="ablation-h1">
            <a:extLst>
              <a:ext uri="{FF2B5EF4-FFF2-40B4-BE49-F238E27FC236}">
                <a16:creationId xmlns:a16="http://schemas.microsoft.com/office/drawing/2014/main" id="{A62C7B65-CA0A-48ED-9EBF-EBE485ED6F23}"/>
              </a:ext>
            </a:extLst>
          </p:cNvPr>
          <p:cNvSpPr>
            <a:spLocks noGrp="1"/>
          </p:cNvSpPr>
          <p:nvPr/>
        </p:nvSpPr>
        <p:spPr>
          <a:xfrm>
            <a:off x="1952625" y="2238375"/>
            <a:ext cx="2381250" cy="304800"/>
          </a:xfrm>
          <a:prstGeom prst="rect">
            <a:avLst/>
          </a:prstGeom>
          <a:noFill/>
          <a:ln w="0">
            <a:noFill/>
            <a:prstDash val="solid"/>
          </a:ln>
        </p:spPr>
        <p:txBody>
          <a:bodyPr/>
          <a:lstStyle/>
          <a:p>
            <a:pPr algn="ctr">
              <a:defRPr sz="1500" b="1">
                <a:solidFill>
                  <a:srgbClr val="000000"/>
                </a:solidFill>
              </a:defRPr>
            </a:pPr>
            <a:r>
              <a:rPr sz="1500" b="1">
                <a:solidFill>
                  <a:srgbClr val="000000"/>
                </a:solidFill>
              </a:rPr>
              <a:t>Component Tested</a:t>
            </a:r>
          </a:p>
        </p:txBody>
      </p:sp>
      <p:sp>
        <p:nvSpPr>
          <p:cNvPr id="157" name="ablation-h2">
            <a:extLst>
              <a:ext uri="{FF2B5EF4-FFF2-40B4-BE49-F238E27FC236}">
                <a16:creationId xmlns:a16="http://schemas.microsoft.com/office/drawing/2014/main" id="{0E2B2C39-2596-4AAE-B3EF-F926A4FBE5AD}"/>
              </a:ext>
            </a:extLst>
          </p:cNvPr>
          <p:cNvSpPr>
            <a:spLocks noGrp="1"/>
          </p:cNvSpPr>
          <p:nvPr/>
        </p:nvSpPr>
        <p:spPr>
          <a:xfrm>
            <a:off x="4619625" y="2238375"/>
            <a:ext cx="2667000" cy="304800"/>
          </a:xfrm>
          <a:prstGeom prst="rect">
            <a:avLst/>
          </a:prstGeom>
          <a:noFill/>
          <a:ln w="0">
            <a:noFill/>
            <a:prstDash val="solid"/>
          </a:ln>
        </p:spPr>
        <p:txBody>
          <a:bodyPr/>
          <a:lstStyle/>
          <a:p>
            <a:pPr algn="ctr">
              <a:defRPr sz="1500" b="1">
                <a:solidFill>
                  <a:srgbClr val="000000"/>
                </a:solidFill>
              </a:defRPr>
            </a:pPr>
            <a:r>
              <a:rPr sz="1500" b="1">
                <a:solidFill>
                  <a:srgbClr val="000000"/>
                </a:solidFill>
              </a:rPr>
              <a:t>Observed Effect</a:t>
            </a:r>
          </a:p>
        </p:txBody>
      </p:sp>
      <p:sp>
        <p:nvSpPr>
          <p:cNvPr id="158" name="ablation-component-1">
            <a:extLst>
              <a:ext uri="{FF2B5EF4-FFF2-40B4-BE49-F238E27FC236}">
                <a16:creationId xmlns:a16="http://schemas.microsoft.com/office/drawing/2014/main" id="{FE22065D-7B4C-491C-A14E-C0E6EE4BDBA8}"/>
              </a:ext>
            </a:extLst>
          </p:cNvPr>
          <p:cNvSpPr>
            <a:spLocks noGrp="1"/>
          </p:cNvSpPr>
          <p:nvPr/>
        </p:nvSpPr>
        <p:spPr>
          <a:xfrm>
            <a:off x="1952625" y="2686050"/>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Orthographic sheet</a:t>
            </a:r>
          </a:p>
        </p:txBody>
      </p:sp>
      <p:sp>
        <p:nvSpPr>
          <p:cNvPr id="159" name="ablation-effect-1">
            <a:extLst>
              <a:ext uri="{FF2B5EF4-FFF2-40B4-BE49-F238E27FC236}">
                <a16:creationId xmlns:a16="http://schemas.microsoft.com/office/drawing/2014/main" id="{BCEE0B19-6BC1-46C6-9C29-4B4844C4544A}"/>
              </a:ext>
            </a:extLst>
          </p:cNvPr>
          <p:cNvSpPr>
            <a:spLocks noGrp="1"/>
          </p:cNvSpPr>
          <p:nvPr/>
        </p:nvSpPr>
        <p:spPr>
          <a:xfrm>
            <a:off x="4476750" y="2686050"/>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Helped after true axis-aligned views were fixed</a:t>
            </a:r>
          </a:p>
        </p:txBody>
      </p:sp>
      <p:sp>
        <p:nvSpPr>
          <p:cNvPr id="160" name="ablation-component-2">
            <a:extLst>
              <a:ext uri="{FF2B5EF4-FFF2-40B4-BE49-F238E27FC236}">
                <a16:creationId xmlns:a16="http://schemas.microsoft.com/office/drawing/2014/main" id="{56C7E699-681E-415C-9873-D7F773D0C73C}"/>
              </a:ext>
            </a:extLst>
          </p:cNvPr>
          <p:cNvSpPr>
            <a:spLocks noGrp="1"/>
          </p:cNvSpPr>
          <p:nvPr/>
        </p:nvSpPr>
        <p:spPr>
          <a:xfrm>
            <a:off x="1952625" y="3019425"/>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Generic highlighting</a:t>
            </a:r>
          </a:p>
        </p:txBody>
      </p:sp>
      <p:sp>
        <p:nvSpPr>
          <p:cNvPr id="161" name="ablation-effect-2">
            <a:extLst>
              <a:ext uri="{FF2B5EF4-FFF2-40B4-BE49-F238E27FC236}">
                <a16:creationId xmlns:a16="http://schemas.microsoft.com/office/drawing/2014/main" id="{86031FCD-A6DE-4FCA-83AB-3485E00A4156}"/>
              </a:ext>
            </a:extLst>
          </p:cNvPr>
          <p:cNvSpPr>
            <a:spLocks noGrp="1"/>
          </p:cNvSpPr>
          <p:nvPr/>
        </p:nvSpPr>
        <p:spPr>
          <a:xfrm>
            <a:off x="4476750" y="3019425"/>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Reduced score by confusing target selection</a:t>
            </a:r>
          </a:p>
        </p:txBody>
      </p:sp>
      <p:sp>
        <p:nvSpPr>
          <p:cNvPr id="162" name="ablation-component-3">
            <a:extLst>
              <a:ext uri="{FF2B5EF4-FFF2-40B4-BE49-F238E27FC236}">
                <a16:creationId xmlns:a16="http://schemas.microsoft.com/office/drawing/2014/main" id="{DA125619-2312-403A-A6D9-8B8858F30D9B}"/>
              </a:ext>
            </a:extLst>
          </p:cNvPr>
          <p:cNvSpPr>
            <a:spLocks noGrp="1"/>
          </p:cNvSpPr>
          <p:nvPr/>
        </p:nvSpPr>
        <p:spPr>
          <a:xfrm>
            <a:off x="1952625" y="3352800"/>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STEP / ISO RAG</a:t>
            </a:r>
          </a:p>
        </p:txBody>
      </p:sp>
      <p:sp>
        <p:nvSpPr>
          <p:cNvPr id="163" name="ablation-effect-3">
            <a:extLst>
              <a:ext uri="{FF2B5EF4-FFF2-40B4-BE49-F238E27FC236}">
                <a16:creationId xmlns:a16="http://schemas.microsoft.com/office/drawing/2014/main" id="{B4602130-E5C1-424F-B372-376A42163697}"/>
              </a:ext>
            </a:extLst>
          </p:cNvPr>
          <p:cNvSpPr>
            <a:spLocks noGrp="1"/>
          </p:cNvSpPr>
          <p:nvPr/>
        </p:nvSpPr>
        <p:spPr>
          <a:xfrm>
            <a:off x="4476750" y="3352800"/>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Added tokens with limited gain over geometry census</a:t>
            </a:r>
          </a:p>
        </p:txBody>
      </p:sp>
      <p:sp>
        <p:nvSpPr>
          <p:cNvPr id="164" name="ablation-component-4">
            <a:extLst>
              <a:ext uri="{FF2B5EF4-FFF2-40B4-BE49-F238E27FC236}">
                <a16:creationId xmlns:a16="http://schemas.microsoft.com/office/drawing/2014/main" id="{478ACA5E-33AE-4594-B846-5AEBBF8E88EC}"/>
              </a:ext>
            </a:extLst>
          </p:cNvPr>
          <p:cNvSpPr>
            <a:spLocks noGrp="1"/>
          </p:cNvSpPr>
          <p:nvPr/>
        </p:nvSpPr>
        <p:spPr>
          <a:xfrm>
            <a:off x="1952625" y="3686175"/>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Candidate enumeration</a:t>
            </a:r>
          </a:p>
        </p:txBody>
      </p:sp>
      <p:sp>
        <p:nvSpPr>
          <p:cNvPr id="165" name="ablation-effect-4">
            <a:extLst>
              <a:ext uri="{FF2B5EF4-FFF2-40B4-BE49-F238E27FC236}">
                <a16:creationId xmlns:a16="http://schemas.microsoft.com/office/drawing/2014/main" id="{F96402BF-FCA0-4CD0-B1CF-DFE461D9A89B}"/>
              </a:ext>
            </a:extLst>
          </p:cNvPr>
          <p:cNvSpPr>
            <a:spLocks noGrp="1"/>
          </p:cNvSpPr>
          <p:nvPr/>
        </p:nvSpPr>
        <p:spPr>
          <a:xfrm>
            <a:off x="4476750" y="3686175"/>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Avoided no-ops but can choose wrong scope</a:t>
            </a:r>
          </a:p>
        </p:txBody>
      </p:sp>
      <p:sp>
        <p:nvSpPr>
          <p:cNvPr id="166" name="ablation-component-5">
            <a:extLst>
              <a:ext uri="{FF2B5EF4-FFF2-40B4-BE49-F238E27FC236}">
                <a16:creationId xmlns:a16="http://schemas.microsoft.com/office/drawing/2014/main" id="{E093270C-E5A8-4B46-B49B-1A1BC0A01125}"/>
              </a:ext>
            </a:extLst>
          </p:cNvPr>
          <p:cNvSpPr>
            <a:spLocks noGrp="1"/>
          </p:cNvSpPr>
          <p:nvPr/>
        </p:nvSpPr>
        <p:spPr>
          <a:xfrm>
            <a:off x="1952625" y="4019550"/>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Failure buckets</a:t>
            </a:r>
          </a:p>
        </p:txBody>
      </p:sp>
      <p:sp>
        <p:nvSpPr>
          <p:cNvPr id="167" name="ablation-effect-5">
            <a:extLst>
              <a:ext uri="{FF2B5EF4-FFF2-40B4-BE49-F238E27FC236}">
                <a16:creationId xmlns:a16="http://schemas.microsoft.com/office/drawing/2014/main" id="{9085DEAB-58A5-4575-A26C-F318E5468DDE}"/>
              </a:ext>
            </a:extLst>
          </p:cNvPr>
          <p:cNvSpPr>
            <a:spLocks noGrp="1"/>
          </p:cNvSpPr>
          <p:nvPr/>
        </p:nvSpPr>
        <p:spPr>
          <a:xfrm>
            <a:off x="4476750" y="4019550"/>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Useful retry signals for identity and wrong scope</a:t>
            </a:r>
          </a:p>
        </p:txBody>
      </p:sp>
      <p:sp>
        <p:nvSpPr>
          <p:cNvPr id="168" name="ablation-component-6">
            <a:extLst>
              <a:ext uri="{FF2B5EF4-FFF2-40B4-BE49-F238E27FC236}">
                <a16:creationId xmlns:a16="http://schemas.microsoft.com/office/drawing/2014/main" id="{73FF9CB6-0C29-4321-AA61-A6C4780A16F0}"/>
              </a:ext>
            </a:extLst>
          </p:cNvPr>
          <p:cNvSpPr>
            <a:spLocks noGrp="1"/>
          </p:cNvSpPr>
          <p:nvPr/>
        </p:nvSpPr>
        <p:spPr>
          <a:xfrm>
            <a:off x="1952625" y="4352925"/>
            <a:ext cx="2381250" cy="266700"/>
          </a:xfrm>
          <a:prstGeom prst="rect">
            <a:avLst/>
          </a:prstGeom>
          <a:noFill/>
          <a:ln w="0">
            <a:noFill/>
            <a:prstDash val="solid"/>
          </a:ln>
        </p:spPr>
        <p:txBody>
          <a:bodyPr/>
          <a:lstStyle/>
          <a:p>
            <a:pPr algn="ctr">
              <a:defRPr sz="1125" b="0">
                <a:solidFill>
                  <a:srgbClr val="000000"/>
                </a:solidFill>
              </a:defRPr>
            </a:pPr>
            <a:r>
              <a:rPr sz="1125" b="0">
                <a:solidFill>
                  <a:srgbClr val="000000"/>
                </a:solidFill>
              </a:rPr>
              <a:t>Watchdog isolation</a:t>
            </a:r>
          </a:p>
        </p:txBody>
      </p:sp>
      <p:sp>
        <p:nvSpPr>
          <p:cNvPr id="169" name="ablation-effect-6">
            <a:extLst>
              <a:ext uri="{FF2B5EF4-FFF2-40B4-BE49-F238E27FC236}">
                <a16:creationId xmlns:a16="http://schemas.microsoft.com/office/drawing/2014/main" id="{B4CE6AAA-8DD9-4FD9-94F0-3C5CE4FACE40}"/>
              </a:ext>
            </a:extLst>
          </p:cNvPr>
          <p:cNvSpPr>
            <a:spLocks noGrp="1"/>
          </p:cNvSpPr>
          <p:nvPr/>
        </p:nvSpPr>
        <p:spPr>
          <a:xfrm>
            <a:off x="4476750" y="4352925"/>
            <a:ext cx="2952750" cy="266700"/>
          </a:xfrm>
          <a:prstGeom prst="rect">
            <a:avLst/>
          </a:prstGeom>
          <a:noFill/>
          <a:ln w="0">
            <a:noFill/>
            <a:prstDash val="solid"/>
          </a:ln>
        </p:spPr>
        <p:txBody>
          <a:bodyPr/>
          <a:lstStyle/>
          <a:p>
            <a:pPr algn="ctr">
              <a:defRPr sz="1050" b="0">
                <a:solidFill>
                  <a:srgbClr val="000000"/>
                </a:solidFill>
              </a:defRPr>
            </a:pPr>
            <a:r>
              <a:rPr sz="1050" b="0">
                <a:solidFill>
                  <a:srgbClr val="000000"/>
                </a:solidFill>
              </a:rPr>
              <a:t>Stopped frozen rows from scoring as valid edits</a:t>
            </a:r>
          </a:p>
        </p:txBody>
      </p:sp>
      <p:sp>
        <p:nvSpPr>
          <p:cNvPr id="170" name="ablation-flow-frame">
            <a:extLst>
              <a:ext uri="{FF2B5EF4-FFF2-40B4-BE49-F238E27FC236}">
                <a16:creationId xmlns:a16="http://schemas.microsoft.com/office/drawing/2014/main" id="{B3438266-CADB-47AB-8E8B-CA442D8C6BBD}"/>
              </a:ext>
            </a:extLst>
          </p:cNvPr>
          <p:cNvSpPr>
            <a:spLocks noGrp="1"/>
          </p:cNvSpPr>
          <p:nvPr/>
        </p:nvSpPr>
        <p:spPr>
          <a:xfrm>
            <a:off x="7905750" y="2333625"/>
            <a:ext cx="3476625" cy="2143125"/>
          </a:xfrm>
          <a:prstGeom prst="roundRect">
            <a:avLst>
              <a:gd name="adj" fmla="val 889"/>
            </a:avLst>
          </a:prstGeom>
          <a:solidFill>
            <a:srgbClr val="EEF5F2"/>
          </a:solidFill>
          <a:ln w="9525">
            <a:solidFill>
              <a:srgbClr val="2F5D50"/>
            </a:solidFill>
            <a:prstDash val="solid"/>
          </a:ln>
        </p:spPr>
        <p:txBody>
          <a:bodyPr/>
          <a:lstStyle/>
          <a:p>
            <a:endParaRPr lang="en-US"/>
          </a:p>
        </p:txBody>
      </p:sp>
      <p:sp>
        <p:nvSpPr>
          <p:cNvPr id="171" name="ablation-flow">
            <a:extLst>
              <a:ext uri="{FF2B5EF4-FFF2-40B4-BE49-F238E27FC236}">
                <a16:creationId xmlns:a16="http://schemas.microsoft.com/office/drawing/2014/main" id="{EC95F896-0FA9-4B77-BD12-C7CC0C0BF0D4}"/>
              </a:ext>
            </a:extLst>
          </p:cNvPr>
          <p:cNvSpPr>
            <a:spLocks noGrp="1"/>
          </p:cNvSpPr>
          <p:nvPr/>
        </p:nvSpPr>
        <p:spPr>
          <a:xfrm>
            <a:off x="8239125" y="2714625"/>
            <a:ext cx="2857500" cy="1381125"/>
          </a:xfrm>
          <a:prstGeom prst="rect">
            <a:avLst/>
          </a:prstGeom>
          <a:noFill/>
          <a:ln w="0">
            <a:noFill/>
            <a:prstDash val="solid"/>
          </a:ln>
        </p:spPr>
        <p:txBody>
          <a:bodyPr/>
          <a:lstStyle/>
          <a:p>
            <a:pPr algn="ctr">
              <a:defRPr sz="1800" b="1">
                <a:solidFill>
                  <a:srgbClr val="000000"/>
                </a:solidFill>
              </a:defRPr>
            </a:pPr>
            <a:r>
              <a:rPr sz="1800" b="1">
                <a:solidFill>
                  <a:srgbClr val="000000"/>
                </a:solidFill>
              </a:rPr>
              <a:t>Baseline Harness</a:t>
            </a:r>
          </a:p>
          <a:p>
            <a:pPr algn="ctr">
              <a:defRPr sz="1800" b="1">
                <a:solidFill>
                  <a:srgbClr val="000000"/>
                </a:solidFill>
              </a:defRPr>
            </a:pPr>
            <a:r>
              <a:rPr sz="1800" b="1">
                <a:solidFill>
                  <a:srgbClr val="000000"/>
                </a:solidFill>
              </a:rPr>
              <a:t>-&gt; Add One Technique</a:t>
            </a:r>
          </a:p>
          <a:p>
            <a:pPr algn="ctr">
              <a:defRPr sz="1800" b="1">
                <a:solidFill>
                  <a:srgbClr val="000000"/>
                </a:solidFill>
              </a:defRPr>
            </a:pPr>
            <a:r>
              <a:rPr sz="1800" b="1">
                <a:solidFill>
                  <a:srgbClr val="000000"/>
                </a:solidFill>
              </a:rPr>
              <a:t>-&gt; Fresh 48-Row Score</a:t>
            </a:r>
          </a:p>
          <a:p>
            <a:pPr algn="ctr">
              <a:defRPr sz="1800" b="1">
                <a:solidFill>
                  <a:srgbClr val="000000"/>
                </a:solidFill>
              </a:defRPr>
            </a:pPr>
            <a:r>
              <a:rPr sz="1800" b="1">
                <a:solidFill>
                  <a:srgbClr val="000000"/>
                </a:solidFill>
              </a:rPr>
              <a:t>-&gt; Keep / Remove</a:t>
            </a:r>
          </a:p>
        </p:txBody>
      </p:sp>
    </p:spTree>
    <p:extLst>
      <p:ext uri="{BB962C8B-B14F-4D97-AF65-F5344CB8AC3E}">
        <p14:creationId xmlns:p14="http://schemas.microsoft.com/office/powerpoint/2010/main" val="913592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Google Shape;158;g3f75d711436_0_39">
            <a:extLst>
              <a:ext uri="{FF2B5EF4-FFF2-40B4-BE49-F238E27FC236}">
                <a16:creationId xmlns:a16="http://schemas.microsoft.com/office/drawing/2014/main" id="{A080E48B-77D3-4D34-BB66-B8F541307DE6}"/>
              </a:ext>
            </a:extLst>
          </p:cNvPr>
          <p:cNvSpPr>
            <a:spLocks noGrp="1"/>
          </p:cNvSpPr>
          <p:nvPr>
            <p:ph type="title"/>
          </p:nvPr>
        </p:nvSpPr>
        <p:spPr>
          <a:xfrm>
            <a:off x="1385050" y="177950"/>
            <a:ext cx="10636800" cy="1325700"/>
          </a:xfrm>
          <a:prstGeom prst="rect">
            <a:avLst/>
          </a:prstGeom>
          <a:noFill/>
          <a:ln>
            <a:noFill/>
          </a:ln>
        </p:spPr>
        <p:txBody>
          <a:bodyPr spcFirstLastPara="1" wrap="square" lIns="91425" tIns="45700" rIns="91425" bIns="45700" anchor="ctr">
            <a:normAutofit/>
          </a:bodyPr>
          <a:lstStyle/>
          <a:p>
            <a:pPr marL="0" lvl="0" indent="0" algn="l">
              <a:lnSpc>
                <a:spcPct val="90000"/>
              </a:lnSpc>
              <a:spcBef>
                <a:spcPts val="0"/>
              </a:spcBef>
              <a:spcAft>
                <a:spcPts val="0"/>
              </a:spcAft>
              <a:buClr>
                <a:schemeClr val="dk1"/>
              </a:buClr>
              <a:buSzPts val="4400"/>
              <a:buFont typeface="Calibri"/>
              <a:buNone/>
            </a:pPr>
            <a:r>
              <a:rPr sz="3400">
                <a:latin typeface="Arial"/>
                <a:ea typeface="Arial"/>
                <a:cs typeface="Arial"/>
              </a:rPr>
              <a:t>Limitations, Observations, and Next Steps</a:t>
            </a:r>
            <a:endParaRPr sz="3100">
              <a:latin typeface="Georgia"/>
              <a:ea typeface="Georgia"/>
              <a:cs typeface="Georgia"/>
            </a:endParaRPr>
          </a:p>
        </p:txBody>
      </p:sp>
      <p:sp>
        <p:nvSpPr>
          <p:cNvPr id="159" name="Google Shape;159;g3f75d711436_0_39">
            <a:extLst>
              <a:ext uri="{FF2B5EF4-FFF2-40B4-BE49-F238E27FC236}">
                <a16:creationId xmlns:a16="http://schemas.microsoft.com/office/drawing/2014/main" id="{4CDF1EAC-FBA8-4975-9440-E8F9A2F179B6}"/>
              </a:ext>
            </a:extLst>
          </p:cNvPr>
          <p:cNvSpPr>
            <a:spLocks noGrp="1"/>
          </p:cNvSpPr>
          <p:nvPr>
            <p:ph type="body" idx="4294967295"/>
          </p:nvPr>
        </p:nvSpPr>
        <p:spPr>
          <a:xfrm>
            <a:off x="1385038" y="1327353"/>
            <a:ext cx="5892900" cy="3883800"/>
          </a:xfrm>
          <a:prstGeom prst="rect">
            <a:avLst/>
          </a:prstGeom>
          <a:noFill/>
          <a:ln>
            <a:noFill/>
          </a:ln>
        </p:spPr>
        <p:txBody>
          <a:bodyPr spcFirstLastPara="1" wrap="square" lIns="91425" tIns="45700" rIns="91425" bIns="45700" anchor="t">
            <a:normAutofit fontScale="90654"/>
          </a:bodyPr>
          <a:lstStyle/>
          <a:p>
            <a:pPr marL="457200" lvl="0" indent="-336550" algn="just">
              <a:lnSpc>
                <a:spcPct val="90000"/>
              </a:lnSpc>
              <a:spcBef>
                <a:spcPts val="0"/>
              </a:spcBef>
              <a:spcAft>
                <a:spcPts val="0"/>
              </a:spcAft>
              <a:buSzPts val="1700"/>
              <a:buFont typeface="Arial"/>
              <a:buChar char="•"/>
            </a:pPr>
            <a:r>
              <a:rPr sz="1700" b="1">
                <a:latin typeface="Arial"/>
                <a:ea typeface="Arial"/>
                <a:cs typeface="Arial"/>
              </a:rPr>
              <a:t>Main limitation: The system can create valid geometry but still lose Diff F1 when it chooses the wrong edge, hole, face, or side of the part.</a:t>
            </a:r>
            <a:endParaRPr sz="1700">
              <a:latin typeface="Arial"/>
              <a:ea typeface="Arial"/>
              <a:cs typeface="Arial"/>
            </a:endParaRPr>
          </a:p>
          <a:p>
            <a:pPr marL="457200" lvl="0" indent="0" algn="just">
              <a:lnSpc>
                <a:spcPct val="90000"/>
              </a:lnSpc>
              <a:spcBef>
                <a:spcPts val="0"/>
              </a:spcBef>
              <a:spcAft>
                <a:spcPts val="0"/>
              </a:spcAft>
              <a:buNone/>
            </a:pPr>
            <a:endParaRPr sz="1700">
              <a:latin typeface="Arial"/>
              <a:ea typeface="Arial"/>
              <a:cs typeface="Arial"/>
            </a:endParaRPr>
          </a:p>
          <a:p>
            <a:pPr marL="457200" lvl="0" indent="-336550" algn="just">
              <a:lnSpc>
                <a:spcPct val="90000"/>
              </a:lnSpc>
              <a:spcBef>
                <a:spcPts val="0"/>
              </a:spcBef>
              <a:spcAft>
                <a:spcPts val="0"/>
              </a:spcAft>
              <a:buSzPts val="1700"/>
              <a:buFont typeface="Arial"/>
              <a:buChar char="•"/>
            </a:pPr>
            <a:r>
              <a:rPr sz="1700" b="1">
                <a:latin typeface="Arial"/>
                <a:ea typeface="Arial"/>
                <a:cs typeface="Arial"/>
              </a:rPr>
              <a:t>Observation: Direct STEP line edits are not reliable because STEP topology is interlinked. CadQuery/B-Rep operations are safer for producing valid edited solids.</a:t>
            </a:r>
            <a:endParaRPr sz="1700">
              <a:latin typeface="Arial"/>
              <a:ea typeface="Arial"/>
              <a:cs typeface="Arial"/>
            </a:endParaRPr>
          </a:p>
          <a:p>
            <a:pPr marL="457200" lvl="0" indent="0" algn="just">
              <a:lnSpc>
                <a:spcPct val="90000"/>
              </a:lnSpc>
              <a:spcBef>
                <a:spcPts val="0"/>
              </a:spcBef>
              <a:spcAft>
                <a:spcPts val="0"/>
              </a:spcAft>
              <a:buNone/>
            </a:pPr>
            <a:endParaRPr sz="1700">
              <a:latin typeface="Arial"/>
              <a:ea typeface="Arial"/>
              <a:cs typeface="Arial"/>
            </a:endParaRPr>
          </a:p>
          <a:p>
            <a:pPr marL="457200" lvl="0" indent="-336550" algn="just">
              <a:lnSpc>
                <a:spcPct val="90000"/>
              </a:lnSpc>
              <a:spcBef>
                <a:spcPts val="0"/>
              </a:spcBef>
              <a:spcAft>
                <a:spcPts val="0"/>
              </a:spcAft>
              <a:buSzPts val="1700"/>
              <a:buFont typeface="Arial"/>
              <a:buChar char="•"/>
            </a:pPr>
            <a:r>
              <a:rPr sz="1700" b="1">
                <a:latin typeface="Arial"/>
                <a:ea typeface="Arial"/>
                <a:cs typeface="Arial"/>
              </a:rPr>
              <a:t>Next step: Use failure buckets as control signals. When a row is tagged wrong_edge_or_scope, force re-grounding to alternate candidate features before accepting the edit.</a:t>
            </a:r>
            <a:endParaRPr sz="1700">
              <a:latin typeface="Arial"/>
              <a:ea typeface="Arial"/>
              <a:cs typeface="Arial"/>
            </a:endParaRPr>
          </a:p>
          <a:p>
            <a:pPr marL="457200" lvl="0" indent="0" algn="just">
              <a:lnSpc>
                <a:spcPct val="90000"/>
              </a:lnSpc>
              <a:spcBef>
                <a:spcPts val="0"/>
              </a:spcBef>
              <a:spcAft>
                <a:spcPts val="0"/>
              </a:spcAft>
              <a:buNone/>
            </a:pPr>
            <a:endParaRPr sz="1700">
              <a:latin typeface="Arial"/>
              <a:ea typeface="Arial"/>
              <a:cs typeface="Arial"/>
            </a:endParaRPr>
          </a:p>
          <a:p>
            <a:pPr marL="457200" lvl="0" indent="-336550" algn="just">
              <a:lnSpc>
                <a:spcPct val="90000"/>
              </a:lnSpc>
              <a:spcBef>
                <a:spcPts val="0"/>
              </a:spcBef>
              <a:spcAft>
                <a:spcPts val="0"/>
              </a:spcAft>
              <a:buSzPts val="1700"/>
              <a:buFont typeface="Arial"/>
              <a:buChar char="•"/>
            </a:pPr>
            <a:r>
              <a:rPr sz="1700">
                <a:latin typeface="Arial"/>
                <a:ea typeface="Arial"/>
                <a:cs typeface="Arial"/>
              </a:rPr>
              <a:t>Future scope: stronger B-Rep target matching, operation-specific validators, and a final fresh 48-row evaluation before claiming benchmark improvement.</a:t>
            </a:r>
          </a:p>
        </p:txBody>
      </p:sp>
      <p:pic>
        <p:nvPicPr>
          <p:cNvPr id="164" name="Google Shape;160;g3f75d711436_0_39"/>
          <p:cNvPicPr>
            <a:picLocks noChangeAspect="1"/>
          </p:cNvPicPr>
          <p:nvPr/>
        </p:nvPicPr>
        <p:blipFill rotWithShape="1">
          <a:blip r:embed="rId3">
            <a:alphaModFix/>
          </a:blip>
          <a:srcRect/>
          <a:stretch/>
        </p:blipFill>
        <p:spPr>
          <a:xfrm>
            <a:off x="7833400" y="1231375"/>
            <a:ext cx="3093800" cy="2695725"/>
          </a:xfrm>
          <a:prstGeom prst="rect">
            <a:avLst/>
          </a:prstGeom>
          <a:ln w="9525" cap="flat" cmpd="sng">
            <a:solidFill>
              <a:schemeClr val="dk1"/>
            </a:solidFill>
            <a:prstDash val="solid"/>
            <a:round/>
          </a:ln>
        </p:spPr>
      </p:pic>
      <p:pic>
        <p:nvPicPr>
          <p:cNvPr id="165" name="Google Shape;161;g3f75d711436_0_39"/>
          <p:cNvPicPr>
            <a:picLocks noChangeAspect="1"/>
          </p:cNvPicPr>
          <p:nvPr/>
        </p:nvPicPr>
        <p:blipFill rotWithShape="1">
          <a:blip r:embed="rId4">
            <a:alphaModFix/>
          </a:blip>
          <a:srcRect l="650" t="3826" b="1985"/>
          <a:stretch/>
        </p:blipFill>
        <p:spPr>
          <a:xfrm>
            <a:off x="6482125" y="4358341"/>
            <a:ext cx="4855464" cy="1145562"/>
          </a:xfrm>
          <a:prstGeom prst="rect">
            <a:avLst/>
          </a:prstGeom>
          <a:ln w="9525" cap="flat" cmpd="sng">
            <a:solidFill>
              <a:schemeClr val="dk1"/>
            </a:solidFill>
            <a:prstDash val="solid"/>
            <a:round/>
          </a:ln>
        </p:spPr>
      </p:pic>
    </p:spTree>
    <p:extLst>
      <p:ext uri="{BB962C8B-B14F-4D97-AF65-F5344CB8AC3E}">
        <p14:creationId xmlns:p14="http://schemas.microsoft.com/office/powerpoint/2010/main" val="206281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Google Shape;167;p1"/>
          <p:cNvPicPr>
            <a:picLocks noChangeAspect="1"/>
          </p:cNvPicPr>
          <p:nvPr/>
        </p:nvPicPr>
        <p:blipFill rotWithShape="1">
          <a:blip r:embed="rId3">
            <a:alphaModFix/>
          </a:blip>
          <a:srcRect/>
          <a:stretch/>
        </p:blipFill>
        <p:spPr>
          <a:xfrm>
            <a:off x="0" y="0"/>
            <a:ext cx="3677375" cy="1057875"/>
          </a:xfrm>
          <a:prstGeom prst="rect">
            <a:avLst/>
          </a:prstGeom>
          <a:ln>
            <a:noFill/>
          </a:ln>
        </p:spPr>
      </p:pic>
      <p:pic>
        <p:nvPicPr>
          <p:cNvPr id="6" name="Google Shape;168;p1"/>
          <p:cNvPicPr>
            <a:picLocks noChangeAspect="1"/>
          </p:cNvPicPr>
          <p:nvPr/>
        </p:nvPicPr>
        <p:blipFill rotWithShape="1">
          <a:blip r:embed="rId4">
            <a:alphaModFix/>
          </a:blip>
          <a:srcRect t="11449" b="24267"/>
          <a:stretch/>
        </p:blipFill>
        <p:spPr>
          <a:xfrm>
            <a:off x="9191175" y="0"/>
            <a:ext cx="3000824" cy="1007625"/>
          </a:xfrm>
          <a:prstGeom prst="rect">
            <a:avLst/>
          </a:prstGeom>
          <a:ln>
            <a:noFill/>
          </a:ln>
        </p:spPr>
      </p:pic>
      <p:pic>
        <p:nvPicPr>
          <p:cNvPr id="7" name="Google Shape;169;p1"/>
          <p:cNvPicPr>
            <a:picLocks noChangeAspect="1"/>
          </p:cNvPicPr>
          <p:nvPr/>
        </p:nvPicPr>
        <p:blipFill rotWithShape="1">
          <a:blip r:embed="rId5">
            <a:alphaModFix/>
          </a:blip>
          <a:srcRect/>
          <a:stretch/>
        </p:blipFill>
        <p:spPr>
          <a:xfrm>
            <a:off x="0" y="6457950"/>
            <a:ext cx="12191999" cy="469353"/>
          </a:xfrm>
          <a:prstGeom prst="rect">
            <a:avLst/>
          </a:prstGeom>
          <a:ln>
            <a:noFill/>
          </a:ln>
        </p:spPr>
      </p:pic>
      <p:pic>
        <p:nvPicPr>
          <p:cNvPr id="8" name="Google Shape;170;p1"/>
          <p:cNvPicPr>
            <a:picLocks noChangeAspect="1"/>
          </p:cNvPicPr>
          <p:nvPr/>
        </p:nvPicPr>
        <p:blipFill rotWithShape="1">
          <a:blip r:embed="rId6">
            <a:alphaModFix/>
          </a:blip>
          <a:srcRect/>
          <a:stretch/>
        </p:blipFill>
        <p:spPr>
          <a:xfrm>
            <a:off x="2874925" y="869025"/>
            <a:ext cx="5676775" cy="5639175"/>
          </a:xfrm>
          <a:prstGeom prst="rect">
            <a:avLst/>
          </a:prstGeom>
          <a:ln>
            <a:noFill/>
          </a:ln>
        </p:spPr>
      </p:pic>
    </p:spTree>
    <p:extLst>
      <p:ext uri="{BB962C8B-B14F-4D97-AF65-F5344CB8AC3E}">
        <p14:creationId xmlns:p14="http://schemas.microsoft.com/office/powerpoint/2010/main" val="1364587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qualitative-clean-white-canvas">
            <a:extLst>
              <a:ext uri="{FF2B5EF4-FFF2-40B4-BE49-F238E27FC236}">
                <a16:creationId xmlns:a16="http://schemas.microsoft.com/office/drawing/2014/main" id="{855E1977-FC82-4273-B064-C4849F7A3AFC}"/>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lang="en-US"/>
          </a:p>
        </p:txBody>
      </p:sp>
      <p:sp>
        <p:nvSpPr>
          <p:cNvPr id="2" name="qualitative-title">
            <a:extLst>
              <a:ext uri="{FF2B5EF4-FFF2-40B4-BE49-F238E27FC236}">
                <a16:creationId xmlns:a16="http://schemas.microsoft.com/office/drawing/2014/main" id="{FF254756-EADB-42B7-A547-09EF00A40F17}"/>
              </a:ext>
            </a:extLst>
          </p:cNvPr>
          <p:cNvSpPr>
            <a:spLocks noGrp="1"/>
          </p:cNvSpPr>
          <p:nvPr/>
        </p:nvSpPr>
        <p:spPr>
          <a:xfrm>
            <a:off x="533400" y="323850"/>
            <a:ext cx="11049000" cy="476250"/>
          </a:xfrm>
          <a:prstGeom prst="rect">
            <a:avLst/>
          </a:prstGeom>
          <a:noFill/>
          <a:ln w="0">
            <a:noFill/>
            <a:prstDash val="solid"/>
          </a:ln>
        </p:spPr>
        <p:txBody>
          <a:bodyPr/>
          <a:lstStyle/>
          <a:p>
            <a:pPr algn="l">
              <a:defRPr sz="2250" b="1">
                <a:solidFill>
                  <a:srgbClr val="17362E"/>
                </a:solidFill>
              </a:defRPr>
            </a:pPr>
            <a:r>
              <a:rPr sz="2250" b="1">
                <a:solidFill>
                  <a:srgbClr val="17362E"/>
                </a:solidFill>
              </a:rPr>
              <a:t>Official qualitative examples show where Diff F1 is won or lost</a:t>
            </a:r>
          </a:p>
        </p:txBody>
      </p:sp>
      <p:sp>
        <p:nvSpPr>
          <p:cNvPr id="3" name="qualitative-subtitle">
            <a:extLst>
              <a:ext uri="{FF2B5EF4-FFF2-40B4-BE49-F238E27FC236}">
                <a16:creationId xmlns:a16="http://schemas.microsoft.com/office/drawing/2014/main" id="{E7A9279B-D82C-452E-B7F5-35A4FCB4601F}"/>
              </a:ext>
            </a:extLst>
          </p:cNvPr>
          <p:cNvSpPr>
            <a:spLocks noGrp="1"/>
          </p:cNvSpPr>
          <p:nvPr/>
        </p:nvSpPr>
        <p:spPr>
          <a:xfrm>
            <a:off x="552450" y="781050"/>
            <a:ext cx="10668000" cy="266700"/>
          </a:xfrm>
          <a:prstGeom prst="rect">
            <a:avLst/>
          </a:prstGeom>
          <a:noFill/>
          <a:ln w="0">
            <a:noFill/>
            <a:prstDash val="solid"/>
          </a:ln>
        </p:spPr>
        <p:txBody>
          <a:bodyPr/>
          <a:lstStyle/>
          <a:p>
            <a:pPr algn="l">
              <a:defRPr sz="1200" b="0">
                <a:solidFill>
                  <a:srgbClr val="444444"/>
                </a:solidFill>
              </a:defRPr>
            </a:pPr>
            <a:r>
              <a:rPr sz="1200" b="0">
                <a:solidFill>
                  <a:srgbClr val="444444"/>
                </a:solidFill>
              </a:rPr>
              <a:t>Five required request IDs from the official submission instructions; metrics are from the fresh GPT-5.2 48-row run.</a:t>
            </a:r>
          </a:p>
        </p:txBody>
      </p:sp>
      <p:sp>
        <p:nvSpPr>
          <p:cNvPr id="4" name="qual-card-1">
            <a:extLst>
              <a:ext uri="{FF2B5EF4-FFF2-40B4-BE49-F238E27FC236}">
                <a16:creationId xmlns:a16="http://schemas.microsoft.com/office/drawing/2014/main" id="{7F724F81-4A27-4DED-9A9B-881202611D2C}"/>
              </a:ext>
            </a:extLst>
          </p:cNvPr>
          <p:cNvSpPr>
            <a:spLocks noGrp="1"/>
          </p:cNvSpPr>
          <p:nvPr/>
        </p:nvSpPr>
        <p:spPr>
          <a:xfrm>
            <a:off x="476250" y="1190625"/>
            <a:ext cx="2171700" cy="4876800"/>
          </a:xfrm>
          <a:prstGeom prst="roundRect">
            <a:avLst>
              <a:gd name="adj" fmla="val 877"/>
            </a:avLst>
          </a:prstGeom>
          <a:solidFill>
            <a:srgbClr val="F7FBF9"/>
          </a:solidFill>
          <a:ln w="9525">
            <a:solidFill>
              <a:srgbClr val="2F5D50"/>
            </a:solidFill>
            <a:prstDash val="solid"/>
          </a:ln>
        </p:spPr>
        <p:txBody>
          <a:bodyPr/>
          <a:lstStyle/>
          <a:p>
            <a:endParaRPr lang="en-US"/>
          </a:p>
        </p:txBody>
      </p:sp>
      <p:sp>
        <p:nvSpPr>
          <p:cNvPr id="5" name="qual-id-1">
            <a:extLst>
              <a:ext uri="{FF2B5EF4-FFF2-40B4-BE49-F238E27FC236}">
                <a16:creationId xmlns:a16="http://schemas.microsoft.com/office/drawing/2014/main" id="{5672F059-1E0B-42BC-8165-F7486A356EFD}"/>
              </a:ext>
            </a:extLst>
          </p:cNvPr>
          <p:cNvSpPr>
            <a:spLocks noGrp="1"/>
          </p:cNvSpPr>
          <p:nvPr/>
        </p:nvSpPr>
        <p:spPr>
          <a:xfrm>
            <a:off x="590550" y="1304925"/>
            <a:ext cx="1943100" cy="266700"/>
          </a:xfrm>
          <a:prstGeom prst="rect">
            <a:avLst/>
          </a:prstGeom>
          <a:noFill/>
          <a:ln w="0">
            <a:noFill/>
            <a:prstDash val="solid"/>
          </a:ln>
        </p:spPr>
        <p:txBody>
          <a:bodyPr/>
          <a:lstStyle/>
          <a:p>
            <a:pPr algn="ctr">
              <a:defRPr sz="975" b="1">
                <a:solidFill>
                  <a:srgbClr val="17362E"/>
                </a:solidFill>
              </a:defRPr>
            </a:pPr>
            <a:r>
              <a:rPr sz="975" b="1">
                <a:solidFill>
                  <a:srgbClr val="17362E"/>
                </a:solidFill>
              </a:rPr>
              <a:t>SUJ2…9987 | boolean_modification</a:t>
            </a:r>
          </a:p>
        </p:txBody>
      </p:sp>
      <p:pic>
        <p:nvPicPr>
          <p:cNvPr id="41" name="Picture 40"/>
          <p:cNvPicPr>
            <a:picLocks noChangeAspect="1"/>
          </p:cNvPicPr>
          <p:nvPr/>
        </p:nvPicPr>
        <p:blipFill>
          <a:blip r:embed="rId3"/>
          <a:stretch/>
        </p:blipFill>
        <p:spPr>
          <a:xfrm>
            <a:off x="571500" y="1799779"/>
            <a:ext cx="1924050" cy="2029271"/>
          </a:xfrm>
          <a:prstGeom prst="rect">
            <a:avLst/>
          </a:prstGeom>
        </p:spPr>
      </p:pic>
      <p:sp>
        <p:nvSpPr>
          <p:cNvPr id="7" name="qual-summary-1">
            <a:extLst>
              <a:ext uri="{FF2B5EF4-FFF2-40B4-BE49-F238E27FC236}">
                <a16:creationId xmlns:a16="http://schemas.microsoft.com/office/drawing/2014/main" id="{6F0ACD2E-1949-46ED-AE50-404319D0B52C}"/>
              </a:ext>
            </a:extLst>
          </p:cNvPr>
          <p:cNvSpPr>
            <a:spLocks noGrp="1"/>
          </p:cNvSpPr>
          <p:nvPr/>
        </p:nvSpPr>
        <p:spPr>
          <a:xfrm>
            <a:off x="609600" y="4048125"/>
            <a:ext cx="1905000" cy="552450"/>
          </a:xfrm>
          <a:prstGeom prst="rect">
            <a:avLst/>
          </a:prstGeom>
          <a:noFill/>
          <a:ln w="0">
            <a:noFill/>
            <a:prstDash val="solid"/>
          </a:ln>
        </p:spPr>
        <p:txBody>
          <a:bodyPr/>
          <a:lstStyle/>
          <a:p>
            <a:pPr algn="ctr">
              <a:defRPr sz="1125" b="0">
                <a:solidFill>
                  <a:srgbClr val="000000"/>
                </a:solidFill>
              </a:defRPr>
            </a:pPr>
            <a:r>
              <a:rPr sz="1125" b="0" dirty="0">
                <a:solidFill>
                  <a:srgbClr val="000000"/>
                </a:solidFill>
              </a:rPr>
              <a:t>Round gear edges -&gt; straight spur teeth</a:t>
            </a:r>
          </a:p>
        </p:txBody>
      </p:sp>
      <p:sp>
        <p:nvSpPr>
          <p:cNvPr id="8" name="qual-metrics-1">
            <a:extLst>
              <a:ext uri="{FF2B5EF4-FFF2-40B4-BE49-F238E27FC236}">
                <a16:creationId xmlns:a16="http://schemas.microsoft.com/office/drawing/2014/main" id="{7A9B3260-38CF-45AC-B7C5-D6E5F3B4BDCA}"/>
              </a:ext>
            </a:extLst>
          </p:cNvPr>
          <p:cNvSpPr>
            <a:spLocks noGrp="1"/>
          </p:cNvSpPr>
          <p:nvPr/>
        </p:nvSpPr>
        <p:spPr>
          <a:xfrm>
            <a:off x="628650" y="4714875"/>
            <a:ext cx="1866900" cy="514350"/>
          </a:xfrm>
          <a:prstGeom prst="rect">
            <a:avLst/>
          </a:prstGeom>
          <a:noFill/>
          <a:ln w="0">
            <a:noFill/>
            <a:prstDash val="solid"/>
          </a:ln>
        </p:spPr>
        <p:txBody>
          <a:bodyPr/>
          <a:lstStyle/>
          <a:p>
            <a:pPr algn="ctr">
              <a:defRPr sz="1275" b="1">
                <a:solidFill>
                  <a:srgbClr val="111111"/>
                </a:solidFill>
              </a:defRPr>
            </a:pPr>
            <a:r>
              <a:rPr sz="1275" b="1" dirty="0">
                <a:solidFill>
                  <a:srgbClr val="111111"/>
                </a:solidFill>
              </a:rPr>
              <a:t>Diff F1 0.143</a:t>
            </a:r>
          </a:p>
          <a:p>
            <a:pPr algn="ctr">
              <a:defRPr sz="1275" b="1">
                <a:solidFill>
                  <a:srgbClr val="111111"/>
                </a:solidFill>
              </a:defRPr>
            </a:pPr>
            <a:r>
              <a:rPr sz="1275" b="1" dirty="0">
                <a:solidFill>
                  <a:srgbClr val="111111"/>
                </a:solidFill>
              </a:rPr>
              <a:t>Vol F1 0.912 | Chamfer 0.973</a:t>
            </a:r>
          </a:p>
        </p:txBody>
      </p:sp>
      <p:sp>
        <p:nvSpPr>
          <p:cNvPr id="9" name="qual-bucket-1">
            <a:extLst>
              <a:ext uri="{FF2B5EF4-FFF2-40B4-BE49-F238E27FC236}">
                <a16:creationId xmlns:a16="http://schemas.microsoft.com/office/drawing/2014/main" id="{F7D1FB92-C81B-4616-AD80-E3B169A42FBF}"/>
              </a:ext>
            </a:extLst>
          </p:cNvPr>
          <p:cNvSpPr>
            <a:spLocks noGrp="1"/>
          </p:cNvSpPr>
          <p:nvPr/>
        </p:nvSpPr>
        <p:spPr>
          <a:xfrm>
            <a:off x="628650" y="5400675"/>
            <a:ext cx="1866900" cy="400050"/>
          </a:xfrm>
          <a:prstGeom prst="rect">
            <a:avLst/>
          </a:prstGeom>
          <a:noFill/>
          <a:ln w="0">
            <a:noFill/>
            <a:prstDash val="solid"/>
          </a:ln>
        </p:spPr>
        <p:txBody>
          <a:bodyPr/>
          <a:lstStyle/>
          <a:p>
            <a:pPr algn="ctr">
              <a:defRPr sz="1050" b="0">
                <a:solidFill>
                  <a:srgbClr val="6F1D1B"/>
                </a:solidFill>
              </a:defRPr>
            </a:pPr>
            <a:r>
              <a:rPr sz="1050" b="0">
                <a:solidFill>
                  <a:srgbClr val="6F1D1B"/>
                </a:solidFill>
              </a:rPr>
              <a:t>Failure bucket: wrong_edge_or_scope</a:t>
            </a:r>
          </a:p>
        </p:txBody>
      </p:sp>
      <p:sp>
        <p:nvSpPr>
          <p:cNvPr id="10" name="qual-card-2">
            <a:extLst>
              <a:ext uri="{FF2B5EF4-FFF2-40B4-BE49-F238E27FC236}">
                <a16:creationId xmlns:a16="http://schemas.microsoft.com/office/drawing/2014/main" id="{3C8DCF80-1E08-485F-A61D-D99AB3ACAD23}"/>
              </a:ext>
            </a:extLst>
          </p:cNvPr>
          <p:cNvSpPr>
            <a:spLocks noGrp="1"/>
          </p:cNvSpPr>
          <p:nvPr/>
        </p:nvSpPr>
        <p:spPr>
          <a:xfrm>
            <a:off x="2781300" y="1190625"/>
            <a:ext cx="2171700" cy="4876800"/>
          </a:xfrm>
          <a:prstGeom prst="roundRect">
            <a:avLst>
              <a:gd name="adj" fmla="val 877"/>
            </a:avLst>
          </a:prstGeom>
          <a:solidFill>
            <a:srgbClr val="F7FBF9"/>
          </a:solidFill>
          <a:ln w="9525">
            <a:solidFill>
              <a:srgbClr val="2F5D50"/>
            </a:solidFill>
            <a:prstDash val="solid"/>
          </a:ln>
        </p:spPr>
        <p:txBody>
          <a:bodyPr/>
          <a:lstStyle/>
          <a:p>
            <a:endParaRPr lang="en-US"/>
          </a:p>
        </p:txBody>
      </p:sp>
      <p:sp>
        <p:nvSpPr>
          <p:cNvPr id="11" name="qual-id-2">
            <a:extLst>
              <a:ext uri="{FF2B5EF4-FFF2-40B4-BE49-F238E27FC236}">
                <a16:creationId xmlns:a16="http://schemas.microsoft.com/office/drawing/2014/main" id="{6364035C-B40B-416E-9A42-3DB8CEE57DB8}"/>
              </a:ext>
            </a:extLst>
          </p:cNvPr>
          <p:cNvSpPr>
            <a:spLocks noGrp="1"/>
          </p:cNvSpPr>
          <p:nvPr/>
        </p:nvSpPr>
        <p:spPr>
          <a:xfrm>
            <a:off x="2895600" y="1304925"/>
            <a:ext cx="1943100" cy="266700"/>
          </a:xfrm>
          <a:prstGeom prst="rect">
            <a:avLst/>
          </a:prstGeom>
          <a:noFill/>
          <a:ln w="0">
            <a:noFill/>
            <a:prstDash val="solid"/>
          </a:ln>
        </p:spPr>
        <p:txBody>
          <a:bodyPr/>
          <a:lstStyle/>
          <a:p>
            <a:pPr algn="ctr">
              <a:defRPr sz="975" b="1">
                <a:solidFill>
                  <a:srgbClr val="17362E"/>
                </a:solidFill>
              </a:defRPr>
            </a:pPr>
            <a:r>
              <a:rPr sz="975" b="1">
                <a:solidFill>
                  <a:srgbClr val="17362E"/>
                </a:solidFill>
              </a:rPr>
              <a:t>3YH2…3335 | feature_addition</a:t>
            </a:r>
          </a:p>
        </p:txBody>
      </p:sp>
      <p:pic>
        <p:nvPicPr>
          <p:cNvPr id="47" name="Picture 46"/>
          <p:cNvPicPr>
            <a:picLocks noChangeAspect="1"/>
          </p:cNvPicPr>
          <p:nvPr/>
        </p:nvPicPr>
        <p:blipFill>
          <a:blip r:embed="rId4"/>
          <a:stretch/>
        </p:blipFill>
        <p:spPr>
          <a:xfrm>
            <a:off x="2905125" y="1752377"/>
            <a:ext cx="1924050" cy="2029271"/>
          </a:xfrm>
          <a:prstGeom prst="rect">
            <a:avLst/>
          </a:prstGeom>
        </p:spPr>
      </p:pic>
      <p:sp>
        <p:nvSpPr>
          <p:cNvPr id="13" name="qual-summary-2">
            <a:extLst>
              <a:ext uri="{FF2B5EF4-FFF2-40B4-BE49-F238E27FC236}">
                <a16:creationId xmlns:a16="http://schemas.microsoft.com/office/drawing/2014/main" id="{76059255-2D87-4679-BAF2-81B3CABEE9AF}"/>
              </a:ext>
            </a:extLst>
          </p:cNvPr>
          <p:cNvSpPr>
            <a:spLocks noGrp="1"/>
          </p:cNvSpPr>
          <p:nvPr/>
        </p:nvSpPr>
        <p:spPr>
          <a:xfrm>
            <a:off x="2914650" y="4048125"/>
            <a:ext cx="1905000" cy="552450"/>
          </a:xfrm>
          <a:prstGeom prst="rect">
            <a:avLst/>
          </a:prstGeom>
          <a:noFill/>
          <a:ln w="0">
            <a:noFill/>
            <a:prstDash val="solid"/>
          </a:ln>
        </p:spPr>
        <p:txBody>
          <a:bodyPr/>
          <a:lstStyle/>
          <a:p>
            <a:pPr algn="ctr">
              <a:defRPr sz="1125" b="0">
                <a:solidFill>
                  <a:srgbClr val="000000"/>
                </a:solidFill>
              </a:defRPr>
            </a:pPr>
            <a:r>
              <a:rPr sz="1125" b="0" dirty="0">
                <a:solidFill>
                  <a:srgbClr val="000000"/>
                </a:solidFill>
              </a:rPr>
              <a:t>Add cylindrical heads on long pins</a:t>
            </a:r>
          </a:p>
        </p:txBody>
      </p:sp>
      <p:sp>
        <p:nvSpPr>
          <p:cNvPr id="14" name="qual-metrics-2">
            <a:extLst>
              <a:ext uri="{FF2B5EF4-FFF2-40B4-BE49-F238E27FC236}">
                <a16:creationId xmlns:a16="http://schemas.microsoft.com/office/drawing/2014/main" id="{7F3D71AF-D25D-453B-B0F5-38EC2A5B27D5}"/>
              </a:ext>
            </a:extLst>
          </p:cNvPr>
          <p:cNvSpPr>
            <a:spLocks noGrp="1"/>
          </p:cNvSpPr>
          <p:nvPr/>
        </p:nvSpPr>
        <p:spPr>
          <a:xfrm>
            <a:off x="2933700" y="4714875"/>
            <a:ext cx="1866900" cy="514350"/>
          </a:xfrm>
          <a:prstGeom prst="rect">
            <a:avLst/>
          </a:prstGeom>
          <a:noFill/>
          <a:ln w="0">
            <a:noFill/>
            <a:prstDash val="solid"/>
          </a:ln>
        </p:spPr>
        <p:txBody>
          <a:bodyPr/>
          <a:lstStyle/>
          <a:p>
            <a:pPr algn="ctr">
              <a:defRPr sz="1275" b="1">
                <a:solidFill>
                  <a:srgbClr val="111111"/>
                </a:solidFill>
              </a:defRPr>
            </a:pPr>
            <a:r>
              <a:rPr sz="1275" b="1" dirty="0">
                <a:solidFill>
                  <a:srgbClr val="111111"/>
                </a:solidFill>
              </a:rPr>
              <a:t>Diff F1 0.023</a:t>
            </a:r>
          </a:p>
          <a:p>
            <a:pPr algn="ctr">
              <a:defRPr sz="1275" b="1">
                <a:solidFill>
                  <a:srgbClr val="111111"/>
                </a:solidFill>
              </a:defRPr>
            </a:pPr>
            <a:r>
              <a:rPr sz="1275" b="1" dirty="0">
                <a:solidFill>
                  <a:srgbClr val="111111"/>
                </a:solidFill>
              </a:rPr>
              <a:t>Vol F1 0.361 | Chamfer 0.975</a:t>
            </a:r>
          </a:p>
        </p:txBody>
      </p:sp>
      <p:sp>
        <p:nvSpPr>
          <p:cNvPr id="15" name="qual-bucket-2">
            <a:extLst>
              <a:ext uri="{FF2B5EF4-FFF2-40B4-BE49-F238E27FC236}">
                <a16:creationId xmlns:a16="http://schemas.microsoft.com/office/drawing/2014/main" id="{54593E7C-9B3A-48F8-A099-10D4F62A7043}"/>
              </a:ext>
            </a:extLst>
          </p:cNvPr>
          <p:cNvSpPr>
            <a:spLocks noGrp="1"/>
          </p:cNvSpPr>
          <p:nvPr/>
        </p:nvSpPr>
        <p:spPr>
          <a:xfrm>
            <a:off x="2933700" y="5400675"/>
            <a:ext cx="1866900" cy="400050"/>
          </a:xfrm>
          <a:prstGeom prst="rect">
            <a:avLst/>
          </a:prstGeom>
          <a:noFill/>
          <a:ln w="0">
            <a:noFill/>
            <a:prstDash val="solid"/>
          </a:ln>
        </p:spPr>
        <p:txBody>
          <a:bodyPr/>
          <a:lstStyle/>
          <a:p>
            <a:pPr algn="ctr">
              <a:defRPr sz="1050" b="0">
                <a:solidFill>
                  <a:srgbClr val="6F1D1B"/>
                </a:solidFill>
              </a:defRPr>
            </a:pPr>
            <a:r>
              <a:rPr sz="1050" b="0">
                <a:solidFill>
                  <a:srgbClr val="6F1D1B"/>
                </a:solidFill>
              </a:rPr>
              <a:t>Failure bucket: misclassify</a:t>
            </a:r>
          </a:p>
        </p:txBody>
      </p:sp>
      <p:sp>
        <p:nvSpPr>
          <p:cNvPr id="16" name="qual-card-3">
            <a:extLst>
              <a:ext uri="{FF2B5EF4-FFF2-40B4-BE49-F238E27FC236}">
                <a16:creationId xmlns:a16="http://schemas.microsoft.com/office/drawing/2014/main" id="{4A256198-B43F-4C3F-A49D-FBA44C1018A2}"/>
              </a:ext>
            </a:extLst>
          </p:cNvPr>
          <p:cNvSpPr>
            <a:spLocks noGrp="1"/>
          </p:cNvSpPr>
          <p:nvPr/>
        </p:nvSpPr>
        <p:spPr>
          <a:xfrm>
            <a:off x="5086350" y="1190625"/>
            <a:ext cx="2171700" cy="4876800"/>
          </a:xfrm>
          <a:prstGeom prst="roundRect">
            <a:avLst>
              <a:gd name="adj" fmla="val 877"/>
            </a:avLst>
          </a:prstGeom>
          <a:solidFill>
            <a:srgbClr val="F8F7F1"/>
          </a:solidFill>
          <a:ln w="9525">
            <a:solidFill>
              <a:srgbClr val="2F5D50"/>
            </a:solidFill>
            <a:prstDash val="solid"/>
          </a:ln>
        </p:spPr>
        <p:txBody>
          <a:bodyPr/>
          <a:lstStyle/>
          <a:p>
            <a:endParaRPr lang="en-US"/>
          </a:p>
        </p:txBody>
      </p:sp>
      <p:sp>
        <p:nvSpPr>
          <p:cNvPr id="17" name="qual-id-3">
            <a:extLst>
              <a:ext uri="{FF2B5EF4-FFF2-40B4-BE49-F238E27FC236}">
                <a16:creationId xmlns:a16="http://schemas.microsoft.com/office/drawing/2014/main" id="{2100FB2A-DFC2-4164-B0C3-54B68CFA1DF6}"/>
              </a:ext>
            </a:extLst>
          </p:cNvPr>
          <p:cNvSpPr>
            <a:spLocks noGrp="1"/>
          </p:cNvSpPr>
          <p:nvPr/>
        </p:nvSpPr>
        <p:spPr>
          <a:xfrm>
            <a:off x="5200650" y="1304925"/>
            <a:ext cx="1943100" cy="266700"/>
          </a:xfrm>
          <a:prstGeom prst="rect">
            <a:avLst/>
          </a:prstGeom>
          <a:noFill/>
          <a:ln w="0">
            <a:noFill/>
            <a:prstDash val="solid"/>
          </a:ln>
        </p:spPr>
        <p:txBody>
          <a:bodyPr/>
          <a:lstStyle/>
          <a:p>
            <a:pPr algn="ctr">
              <a:defRPr sz="975" b="1">
                <a:solidFill>
                  <a:srgbClr val="17362E"/>
                </a:solidFill>
              </a:defRPr>
            </a:pPr>
            <a:r>
              <a:rPr sz="975" b="1">
                <a:solidFill>
                  <a:srgbClr val="17362E"/>
                </a:solidFill>
              </a:rPr>
              <a:t>B7A2…4133 | feature_translation</a:t>
            </a:r>
          </a:p>
        </p:txBody>
      </p:sp>
      <p:sp>
        <p:nvSpPr>
          <p:cNvPr id="18" name="qual-placeholder-3">
            <a:extLst>
              <a:ext uri="{FF2B5EF4-FFF2-40B4-BE49-F238E27FC236}">
                <a16:creationId xmlns:a16="http://schemas.microsoft.com/office/drawing/2014/main" id="{F597A262-E672-4162-89B4-1BA2D25D2C53}"/>
              </a:ext>
            </a:extLst>
          </p:cNvPr>
          <p:cNvSpPr>
            <a:spLocks noGrp="1"/>
          </p:cNvSpPr>
          <p:nvPr/>
        </p:nvSpPr>
        <p:spPr>
          <a:xfrm>
            <a:off x="5210175" y="1647825"/>
            <a:ext cx="1924050" cy="2238375"/>
          </a:xfrm>
          <a:prstGeom prst="rect">
            <a:avLst/>
          </a:prstGeom>
          <a:solidFill>
            <a:srgbClr val="F1EEE5"/>
          </a:solidFill>
          <a:ln w="9525">
            <a:solidFill>
              <a:srgbClr val="8A7D55"/>
            </a:solidFill>
            <a:prstDash val="solid"/>
          </a:ln>
        </p:spPr>
        <p:txBody>
          <a:bodyPr/>
          <a:lstStyle/>
          <a:p>
            <a:endParaRPr lang="en-US"/>
          </a:p>
        </p:txBody>
      </p:sp>
      <p:sp>
        <p:nvSpPr>
          <p:cNvPr id="19" name="qual-placeholder-text-3">
            <a:extLst>
              <a:ext uri="{FF2B5EF4-FFF2-40B4-BE49-F238E27FC236}">
                <a16:creationId xmlns:a16="http://schemas.microsoft.com/office/drawing/2014/main" id="{3CD65FF6-AC79-4137-A966-60AD4304AC3C}"/>
              </a:ext>
            </a:extLst>
          </p:cNvPr>
          <p:cNvSpPr>
            <a:spLocks noGrp="1"/>
          </p:cNvSpPr>
          <p:nvPr/>
        </p:nvSpPr>
        <p:spPr>
          <a:xfrm>
            <a:off x="5400675" y="2428875"/>
            <a:ext cx="1543050" cy="685800"/>
          </a:xfrm>
          <a:prstGeom prst="rect">
            <a:avLst/>
          </a:prstGeom>
          <a:noFill/>
          <a:ln w="0">
            <a:noFill/>
            <a:prstDash val="solid"/>
          </a:ln>
        </p:spPr>
        <p:txBody>
          <a:bodyPr/>
          <a:lstStyle/>
          <a:p>
            <a:pPr algn="ctr">
              <a:defRPr sz="1275" b="1">
                <a:solidFill>
                  <a:srgbClr val="5C512F"/>
                </a:solidFill>
              </a:defRPr>
            </a:pPr>
            <a:r>
              <a:rPr sz="1275" b="1">
                <a:solidFill>
                  <a:srgbClr val="5C512F"/>
                </a:solidFill>
              </a:rPr>
              <a:t>Render unavailable</a:t>
            </a:r>
          </a:p>
          <a:p>
            <a:pPr algn="ctr">
              <a:defRPr sz="1275" b="1">
                <a:solidFill>
                  <a:srgbClr val="5C512F"/>
                </a:solidFill>
              </a:defRPr>
            </a:pPr>
            <a:r>
              <a:rPr sz="1275" b="1">
                <a:solidFill>
                  <a:srgbClr val="5C512F"/>
                </a:solidFill>
              </a:rPr>
              <a:t>CAD output + score exist</a:t>
            </a:r>
          </a:p>
        </p:txBody>
      </p:sp>
      <p:sp>
        <p:nvSpPr>
          <p:cNvPr id="20" name="qual-summary-3">
            <a:extLst>
              <a:ext uri="{FF2B5EF4-FFF2-40B4-BE49-F238E27FC236}">
                <a16:creationId xmlns:a16="http://schemas.microsoft.com/office/drawing/2014/main" id="{3209E578-6BA9-4088-BC7D-CC59DA3D82E9}"/>
              </a:ext>
            </a:extLst>
          </p:cNvPr>
          <p:cNvSpPr>
            <a:spLocks noGrp="1"/>
          </p:cNvSpPr>
          <p:nvPr/>
        </p:nvSpPr>
        <p:spPr>
          <a:xfrm>
            <a:off x="5219700" y="4048125"/>
            <a:ext cx="1905000" cy="552450"/>
          </a:xfrm>
          <a:prstGeom prst="rect">
            <a:avLst/>
          </a:prstGeom>
          <a:noFill/>
          <a:ln w="0">
            <a:noFill/>
            <a:prstDash val="solid"/>
          </a:ln>
        </p:spPr>
        <p:txBody>
          <a:bodyPr/>
          <a:lstStyle/>
          <a:p>
            <a:pPr algn="ctr">
              <a:defRPr sz="1125" b="0">
                <a:solidFill>
                  <a:srgbClr val="000000"/>
                </a:solidFill>
              </a:defRPr>
            </a:pPr>
            <a:r>
              <a:rPr sz="1125" b="0">
                <a:solidFill>
                  <a:srgbClr val="000000"/>
                </a:solidFill>
              </a:rPr>
              <a:t>Prolong black lever to front by 5 cm</a:t>
            </a:r>
          </a:p>
        </p:txBody>
      </p:sp>
      <p:sp>
        <p:nvSpPr>
          <p:cNvPr id="21" name="qual-metrics-3">
            <a:extLst>
              <a:ext uri="{FF2B5EF4-FFF2-40B4-BE49-F238E27FC236}">
                <a16:creationId xmlns:a16="http://schemas.microsoft.com/office/drawing/2014/main" id="{B41ED82E-F8BE-4DA1-8D07-F66FC2C0E7FE}"/>
              </a:ext>
            </a:extLst>
          </p:cNvPr>
          <p:cNvSpPr>
            <a:spLocks noGrp="1"/>
          </p:cNvSpPr>
          <p:nvPr/>
        </p:nvSpPr>
        <p:spPr>
          <a:xfrm>
            <a:off x="5238750" y="4714875"/>
            <a:ext cx="1866900" cy="514350"/>
          </a:xfrm>
          <a:prstGeom prst="rect">
            <a:avLst/>
          </a:prstGeom>
          <a:noFill/>
          <a:ln w="0">
            <a:noFill/>
            <a:prstDash val="solid"/>
          </a:ln>
        </p:spPr>
        <p:txBody>
          <a:bodyPr/>
          <a:lstStyle/>
          <a:p>
            <a:pPr algn="ctr">
              <a:defRPr sz="1275" b="1">
                <a:solidFill>
                  <a:srgbClr val="111111"/>
                </a:solidFill>
              </a:defRPr>
            </a:pPr>
            <a:r>
              <a:rPr sz="1275" b="1" dirty="0">
                <a:solidFill>
                  <a:srgbClr val="111111"/>
                </a:solidFill>
              </a:rPr>
              <a:t>Diff F1 0.245</a:t>
            </a:r>
          </a:p>
          <a:p>
            <a:pPr algn="ctr">
              <a:defRPr sz="1275" b="1">
                <a:solidFill>
                  <a:srgbClr val="111111"/>
                </a:solidFill>
              </a:defRPr>
            </a:pPr>
            <a:r>
              <a:rPr sz="1275" b="1" dirty="0">
                <a:solidFill>
                  <a:srgbClr val="111111"/>
                </a:solidFill>
              </a:rPr>
              <a:t>Vol F1 0.638 | Chamfer 0.978</a:t>
            </a:r>
          </a:p>
        </p:txBody>
      </p:sp>
      <p:sp>
        <p:nvSpPr>
          <p:cNvPr id="22" name="qual-bucket-3">
            <a:extLst>
              <a:ext uri="{FF2B5EF4-FFF2-40B4-BE49-F238E27FC236}">
                <a16:creationId xmlns:a16="http://schemas.microsoft.com/office/drawing/2014/main" id="{F0B02362-45C2-434D-BA0B-D9006F20E3CC}"/>
              </a:ext>
            </a:extLst>
          </p:cNvPr>
          <p:cNvSpPr>
            <a:spLocks noGrp="1"/>
          </p:cNvSpPr>
          <p:nvPr/>
        </p:nvSpPr>
        <p:spPr>
          <a:xfrm>
            <a:off x="5238750" y="5400675"/>
            <a:ext cx="1866900" cy="400050"/>
          </a:xfrm>
          <a:prstGeom prst="rect">
            <a:avLst/>
          </a:prstGeom>
          <a:noFill/>
          <a:ln w="0">
            <a:noFill/>
            <a:prstDash val="solid"/>
          </a:ln>
        </p:spPr>
        <p:txBody>
          <a:bodyPr/>
          <a:lstStyle/>
          <a:p>
            <a:pPr algn="ctr">
              <a:defRPr sz="1050" b="0">
                <a:solidFill>
                  <a:srgbClr val="6F1D1B"/>
                </a:solidFill>
              </a:defRPr>
            </a:pPr>
            <a:r>
              <a:rPr sz="1050" b="0">
                <a:solidFill>
                  <a:srgbClr val="6F1D1B"/>
                </a:solidFill>
              </a:rPr>
              <a:t>Failure bucket: misclassify</a:t>
            </a:r>
          </a:p>
        </p:txBody>
      </p:sp>
      <p:sp>
        <p:nvSpPr>
          <p:cNvPr id="23" name="qual-card-4">
            <a:extLst>
              <a:ext uri="{FF2B5EF4-FFF2-40B4-BE49-F238E27FC236}">
                <a16:creationId xmlns:a16="http://schemas.microsoft.com/office/drawing/2014/main" id="{D8657C34-C681-41E6-974A-9D35C65FA60C}"/>
              </a:ext>
            </a:extLst>
          </p:cNvPr>
          <p:cNvSpPr>
            <a:spLocks noGrp="1"/>
          </p:cNvSpPr>
          <p:nvPr/>
        </p:nvSpPr>
        <p:spPr>
          <a:xfrm>
            <a:off x="7391400" y="1190625"/>
            <a:ext cx="2171700" cy="4876800"/>
          </a:xfrm>
          <a:prstGeom prst="roundRect">
            <a:avLst>
              <a:gd name="adj" fmla="val 877"/>
            </a:avLst>
          </a:prstGeom>
          <a:solidFill>
            <a:srgbClr val="F7FBF9"/>
          </a:solidFill>
          <a:ln w="9525">
            <a:solidFill>
              <a:srgbClr val="2F5D50"/>
            </a:solidFill>
            <a:prstDash val="solid"/>
          </a:ln>
        </p:spPr>
        <p:txBody>
          <a:bodyPr/>
          <a:lstStyle/>
          <a:p>
            <a:endParaRPr lang="en-US"/>
          </a:p>
        </p:txBody>
      </p:sp>
      <p:sp>
        <p:nvSpPr>
          <p:cNvPr id="24" name="qual-id-4">
            <a:extLst>
              <a:ext uri="{FF2B5EF4-FFF2-40B4-BE49-F238E27FC236}">
                <a16:creationId xmlns:a16="http://schemas.microsoft.com/office/drawing/2014/main" id="{31CB7CAB-2A14-4F68-AB17-4CAB469A208D}"/>
              </a:ext>
            </a:extLst>
          </p:cNvPr>
          <p:cNvSpPr>
            <a:spLocks noGrp="1"/>
          </p:cNvSpPr>
          <p:nvPr/>
        </p:nvSpPr>
        <p:spPr>
          <a:xfrm>
            <a:off x="7505700" y="1304925"/>
            <a:ext cx="1943100" cy="266700"/>
          </a:xfrm>
          <a:prstGeom prst="rect">
            <a:avLst/>
          </a:prstGeom>
          <a:noFill/>
          <a:ln w="0">
            <a:noFill/>
            <a:prstDash val="solid"/>
          </a:ln>
        </p:spPr>
        <p:txBody>
          <a:bodyPr/>
          <a:lstStyle/>
          <a:p>
            <a:pPr algn="ctr">
              <a:defRPr sz="975" b="1">
                <a:solidFill>
                  <a:srgbClr val="17362E"/>
                </a:solidFill>
              </a:defRPr>
            </a:pPr>
            <a:r>
              <a:rPr sz="975" b="1">
                <a:solidFill>
                  <a:srgbClr val="17362E"/>
                </a:solidFill>
              </a:rPr>
              <a:t>F332…7142 | pattern</a:t>
            </a:r>
          </a:p>
        </p:txBody>
      </p:sp>
      <p:pic>
        <p:nvPicPr>
          <p:cNvPr id="60" name="Picture 59"/>
          <p:cNvPicPr>
            <a:picLocks noChangeAspect="1"/>
          </p:cNvPicPr>
          <p:nvPr/>
        </p:nvPicPr>
        <p:blipFill>
          <a:blip r:embed="rId5"/>
          <a:stretch/>
        </p:blipFill>
        <p:spPr>
          <a:xfrm>
            <a:off x="7515225" y="1752377"/>
            <a:ext cx="1924050" cy="2029271"/>
          </a:xfrm>
          <a:prstGeom prst="rect">
            <a:avLst/>
          </a:prstGeom>
        </p:spPr>
      </p:pic>
      <p:sp>
        <p:nvSpPr>
          <p:cNvPr id="26" name="qual-summary-4">
            <a:extLst>
              <a:ext uri="{FF2B5EF4-FFF2-40B4-BE49-F238E27FC236}">
                <a16:creationId xmlns:a16="http://schemas.microsoft.com/office/drawing/2014/main" id="{2EA76145-0B92-475E-BDA8-56BCF3EB388A}"/>
              </a:ext>
            </a:extLst>
          </p:cNvPr>
          <p:cNvSpPr>
            <a:spLocks noGrp="1"/>
          </p:cNvSpPr>
          <p:nvPr/>
        </p:nvSpPr>
        <p:spPr>
          <a:xfrm>
            <a:off x="7524750" y="4048125"/>
            <a:ext cx="1905000" cy="552450"/>
          </a:xfrm>
          <a:prstGeom prst="rect">
            <a:avLst/>
          </a:prstGeom>
          <a:noFill/>
          <a:ln w="0">
            <a:noFill/>
            <a:prstDash val="solid"/>
          </a:ln>
        </p:spPr>
        <p:txBody>
          <a:bodyPr/>
          <a:lstStyle/>
          <a:p>
            <a:pPr algn="ctr">
              <a:defRPr sz="1125" b="0">
                <a:solidFill>
                  <a:srgbClr val="000000"/>
                </a:solidFill>
              </a:defRPr>
            </a:pPr>
            <a:r>
              <a:rPr sz="1125" b="0" dirty="0">
                <a:solidFill>
                  <a:srgbClr val="000000"/>
                </a:solidFill>
              </a:rPr>
              <a:t>Add third rotor blade to assembly</a:t>
            </a:r>
          </a:p>
        </p:txBody>
      </p:sp>
      <p:sp>
        <p:nvSpPr>
          <p:cNvPr id="27" name="qual-metrics-4">
            <a:extLst>
              <a:ext uri="{FF2B5EF4-FFF2-40B4-BE49-F238E27FC236}">
                <a16:creationId xmlns:a16="http://schemas.microsoft.com/office/drawing/2014/main" id="{18142ADD-BEF3-4CAA-8A12-D4F8BDCF0D2D}"/>
              </a:ext>
            </a:extLst>
          </p:cNvPr>
          <p:cNvSpPr>
            <a:spLocks noGrp="1"/>
          </p:cNvSpPr>
          <p:nvPr/>
        </p:nvSpPr>
        <p:spPr>
          <a:xfrm>
            <a:off x="7543800" y="4714875"/>
            <a:ext cx="1866900" cy="514350"/>
          </a:xfrm>
          <a:prstGeom prst="rect">
            <a:avLst/>
          </a:prstGeom>
          <a:noFill/>
          <a:ln w="0">
            <a:noFill/>
            <a:prstDash val="solid"/>
          </a:ln>
        </p:spPr>
        <p:txBody>
          <a:bodyPr/>
          <a:lstStyle/>
          <a:p>
            <a:pPr algn="ctr">
              <a:defRPr sz="1275" b="1">
                <a:solidFill>
                  <a:srgbClr val="111111"/>
                </a:solidFill>
              </a:defRPr>
            </a:pPr>
            <a:r>
              <a:rPr sz="1275" b="1" dirty="0">
                <a:solidFill>
                  <a:srgbClr val="111111"/>
                </a:solidFill>
              </a:rPr>
              <a:t>Diff F1 0.108</a:t>
            </a:r>
          </a:p>
          <a:p>
            <a:pPr algn="ctr">
              <a:defRPr sz="1275" b="1">
                <a:solidFill>
                  <a:srgbClr val="111111"/>
                </a:solidFill>
              </a:defRPr>
            </a:pPr>
            <a:r>
              <a:rPr sz="1275" b="1" dirty="0">
                <a:solidFill>
                  <a:srgbClr val="111111"/>
                </a:solidFill>
              </a:rPr>
              <a:t>Vol F1 0.347 | Chamfer 0.985</a:t>
            </a:r>
          </a:p>
        </p:txBody>
      </p:sp>
      <p:sp>
        <p:nvSpPr>
          <p:cNvPr id="28" name="qual-bucket-4">
            <a:extLst>
              <a:ext uri="{FF2B5EF4-FFF2-40B4-BE49-F238E27FC236}">
                <a16:creationId xmlns:a16="http://schemas.microsoft.com/office/drawing/2014/main" id="{0285E83D-88E8-4D24-B3AA-93CC0BC2BF0F}"/>
              </a:ext>
            </a:extLst>
          </p:cNvPr>
          <p:cNvSpPr>
            <a:spLocks noGrp="1"/>
          </p:cNvSpPr>
          <p:nvPr/>
        </p:nvSpPr>
        <p:spPr>
          <a:xfrm>
            <a:off x="7543800" y="5400675"/>
            <a:ext cx="1866900" cy="400050"/>
          </a:xfrm>
          <a:prstGeom prst="rect">
            <a:avLst/>
          </a:prstGeom>
          <a:noFill/>
          <a:ln w="0">
            <a:noFill/>
            <a:prstDash val="solid"/>
          </a:ln>
        </p:spPr>
        <p:txBody>
          <a:bodyPr/>
          <a:lstStyle/>
          <a:p>
            <a:pPr algn="ctr">
              <a:defRPr sz="1050" b="0">
                <a:solidFill>
                  <a:srgbClr val="6F1D1B"/>
                </a:solidFill>
              </a:defRPr>
            </a:pPr>
            <a:r>
              <a:rPr sz="1050" b="0">
                <a:solidFill>
                  <a:srgbClr val="6F1D1B"/>
                </a:solidFill>
              </a:rPr>
              <a:t>Failure bucket: occ_fail</a:t>
            </a:r>
          </a:p>
        </p:txBody>
      </p:sp>
      <p:sp>
        <p:nvSpPr>
          <p:cNvPr id="29" name="qual-card-5">
            <a:extLst>
              <a:ext uri="{FF2B5EF4-FFF2-40B4-BE49-F238E27FC236}">
                <a16:creationId xmlns:a16="http://schemas.microsoft.com/office/drawing/2014/main" id="{7E62B58E-7A3F-423E-BA19-DA8CAC07E1B2}"/>
              </a:ext>
            </a:extLst>
          </p:cNvPr>
          <p:cNvSpPr>
            <a:spLocks noGrp="1"/>
          </p:cNvSpPr>
          <p:nvPr/>
        </p:nvSpPr>
        <p:spPr>
          <a:xfrm>
            <a:off x="9696450" y="1190625"/>
            <a:ext cx="2171700" cy="4876800"/>
          </a:xfrm>
          <a:prstGeom prst="roundRect">
            <a:avLst>
              <a:gd name="adj" fmla="val 877"/>
            </a:avLst>
          </a:prstGeom>
          <a:solidFill>
            <a:srgbClr val="F7FBF9"/>
          </a:solidFill>
          <a:ln w="9525">
            <a:solidFill>
              <a:srgbClr val="2F5D50"/>
            </a:solidFill>
            <a:prstDash val="solid"/>
          </a:ln>
        </p:spPr>
        <p:txBody>
          <a:bodyPr/>
          <a:lstStyle/>
          <a:p>
            <a:endParaRPr lang="en-US"/>
          </a:p>
        </p:txBody>
      </p:sp>
      <p:sp>
        <p:nvSpPr>
          <p:cNvPr id="30" name="qual-id-5">
            <a:extLst>
              <a:ext uri="{FF2B5EF4-FFF2-40B4-BE49-F238E27FC236}">
                <a16:creationId xmlns:a16="http://schemas.microsoft.com/office/drawing/2014/main" id="{C666423D-7ED5-43D1-9BD4-0DDE07C5892E}"/>
              </a:ext>
            </a:extLst>
          </p:cNvPr>
          <p:cNvSpPr>
            <a:spLocks noGrp="1"/>
          </p:cNvSpPr>
          <p:nvPr/>
        </p:nvSpPr>
        <p:spPr>
          <a:xfrm>
            <a:off x="9810750" y="1304925"/>
            <a:ext cx="1943100" cy="266700"/>
          </a:xfrm>
          <a:prstGeom prst="rect">
            <a:avLst/>
          </a:prstGeom>
          <a:noFill/>
          <a:ln w="0">
            <a:noFill/>
            <a:prstDash val="solid"/>
          </a:ln>
        </p:spPr>
        <p:txBody>
          <a:bodyPr/>
          <a:lstStyle/>
          <a:p>
            <a:pPr algn="ctr">
              <a:defRPr sz="975" b="1">
                <a:solidFill>
                  <a:srgbClr val="17362E"/>
                </a:solidFill>
              </a:defRPr>
            </a:pPr>
            <a:r>
              <a:rPr sz="975" b="1">
                <a:solidFill>
                  <a:srgbClr val="17362E"/>
                </a:solidFill>
              </a:rPr>
              <a:t>ZK22…4422 | hole_edit</a:t>
            </a:r>
          </a:p>
        </p:txBody>
      </p:sp>
      <p:pic>
        <p:nvPicPr>
          <p:cNvPr id="66" name="Picture 65"/>
          <p:cNvPicPr>
            <a:picLocks noChangeAspect="1"/>
          </p:cNvPicPr>
          <p:nvPr/>
        </p:nvPicPr>
        <p:blipFill>
          <a:blip r:embed="rId6"/>
          <a:stretch/>
        </p:blipFill>
        <p:spPr>
          <a:xfrm>
            <a:off x="9820275" y="1752377"/>
            <a:ext cx="1924050" cy="2029271"/>
          </a:xfrm>
          <a:prstGeom prst="rect">
            <a:avLst/>
          </a:prstGeom>
        </p:spPr>
      </p:pic>
      <p:sp>
        <p:nvSpPr>
          <p:cNvPr id="32" name="qual-summary-5">
            <a:extLst>
              <a:ext uri="{FF2B5EF4-FFF2-40B4-BE49-F238E27FC236}">
                <a16:creationId xmlns:a16="http://schemas.microsoft.com/office/drawing/2014/main" id="{00B75959-D03E-4501-9F26-6B8E338B2C1E}"/>
              </a:ext>
            </a:extLst>
          </p:cNvPr>
          <p:cNvSpPr>
            <a:spLocks noGrp="1"/>
          </p:cNvSpPr>
          <p:nvPr/>
        </p:nvSpPr>
        <p:spPr>
          <a:xfrm>
            <a:off x="9829800" y="4048125"/>
            <a:ext cx="1905000" cy="552450"/>
          </a:xfrm>
          <a:prstGeom prst="rect">
            <a:avLst/>
          </a:prstGeom>
          <a:noFill/>
          <a:ln w="0">
            <a:noFill/>
            <a:prstDash val="solid"/>
          </a:ln>
        </p:spPr>
        <p:txBody>
          <a:bodyPr/>
          <a:lstStyle/>
          <a:p>
            <a:pPr algn="ctr">
              <a:defRPr sz="1125" b="0">
                <a:solidFill>
                  <a:srgbClr val="000000"/>
                </a:solidFill>
              </a:defRPr>
            </a:pPr>
            <a:r>
              <a:rPr sz="1125" b="0">
                <a:solidFill>
                  <a:srgbClr val="000000"/>
                </a:solidFill>
              </a:rPr>
              <a:t>Add 1.7 mm connecting hole + grooves</a:t>
            </a:r>
          </a:p>
        </p:txBody>
      </p:sp>
      <p:sp>
        <p:nvSpPr>
          <p:cNvPr id="33" name="qual-metrics-5">
            <a:extLst>
              <a:ext uri="{FF2B5EF4-FFF2-40B4-BE49-F238E27FC236}">
                <a16:creationId xmlns:a16="http://schemas.microsoft.com/office/drawing/2014/main" id="{76F0BFD2-CFF8-4734-B5D2-CBA6AAE2B9D0}"/>
              </a:ext>
            </a:extLst>
          </p:cNvPr>
          <p:cNvSpPr>
            <a:spLocks noGrp="1"/>
          </p:cNvSpPr>
          <p:nvPr/>
        </p:nvSpPr>
        <p:spPr>
          <a:xfrm>
            <a:off x="9848850" y="4714875"/>
            <a:ext cx="1866900" cy="514350"/>
          </a:xfrm>
          <a:prstGeom prst="rect">
            <a:avLst/>
          </a:prstGeom>
          <a:noFill/>
          <a:ln w="0">
            <a:noFill/>
            <a:prstDash val="solid"/>
          </a:ln>
        </p:spPr>
        <p:txBody>
          <a:bodyPr/>
          <a:lstStyle/>
          <a:p>
            <a:pPr algn="ctr">
              <a:defRPr sz="1275" b="1">
                <a:solidFill>
                  <a:srgbClr val="111111"/>
                </a:solidFill>
              </a:defRPr>
            </a:pPr>
            <a:r>
              <a:rPr sz="1275" b="1" dirty="0">
                <a:solidFill>
                  <a:srgbClr val="111111"/>
                </a:solidFill>
              </a:rPr>
              <a:t>Diff F1 0.082</a:t>
            </a:r>
          </a:p>
          <a:p>
            <a:pPr algn="ctr">
              <a:defRPr sz="1275" b="1">
                <a:solidFill>
                  <a:srgbClr val="111111"/>
                </a:solidFill>
              </a:defRPr>
            </a:pPr>
            <a:r>
              <a:rPr sz="1275" b="1" dirty="0">
                <a:solidFill>
                  <a:srgbClr val="111111"/>
                </a:solidFill>
              </a:rPr>
              <a:t>Vol F1 0.779 | Chamfer 0.982</a:t>
            </a:r>
          </a:p>
        </p:txBody>
      </p:sp>
      <p:sp>
        <p:nvSpPr>
          <p:cNvPr id="34" name="qual-bucket-5">
            <a:extLst>
              <a:ext uri="{FF2B5EF4-FFF2-40B4-BE49-F238E27FC236}">
                <a16:creationId xmlns:a16="http://schemas.microsoft.com/office/drawing/2014/main" id="{74AD4F6F-4457-408A-9D87-49374B626360}"/>
              </a:ext>
            </a:extLst>
          </p:cNvPr>
          <p:cNvSpPr>
            <a:spLocks noGrp="1"/>
          </p:cNvSpPr>
          <p:nvPr/>
        </p:nvSpPr>
        <p:spPr>
          <a:xfrm>
            <a:off x="9848850" y="5400675"/>
            <a:ext cx="1866900" cy="400050"/>
          </a:xfrm>
          <a:prstGeom prst="rect">
            <a:avLst/>
          </a:prstGeom>
          <a:noFill/>
          <a:ln w="0">
            <a:noFill/>
            <a:prstDash val="solid"/>
          </a:ln>
        </p:spPr>
        <p:txBody>
          <a:bodyPr/>
          <a:lstStyle/>
          <a:p>
            <a:pPr algn="ctr">
              <a:defRPr sz="1050" b="0">
                <a:solidFill>
                  <a:srgbClr val="6F1D1B"/>
                </a:solidFill>
              </a:defRPr>
            </a:pPr>
            <a:r>
              <a:rPr sz="1050" b="0">
                <a:solidFill>
                  <a:srgbClr val="6F1D1B"/>
                </a:solidFill>
              </a:rPr>
              <a:t>Failure bucket: wrong_edge_or_scope</a:t>
            </a:r>
          </a:p>
        </p:txBody>
      </p:sp>
      <p:sp>
        <p:nvSpPr>
          <p:cNvPr id="35" name="qualitative-footer">
            <a:extLst>
              <a:ext uri="{FF2B5EF4-FFF2-40B4-BE49-F238E27FC236}">
                <a16:creationId xmlns:a16="http://schemas.microsoft.com/office/drawing/2014/main" id="{BCD0A9A1-2D31-43EC-9AB2-ECF7916C8DE9}"/>
              </a:ext>
            </a:extLst>
          </p:cNvPr>
          <p:cNvSpPr>
            <a:spLocks noGrp="1"/>
          </p:cNvSpPr>
          <p:nvPr/>
        </p:nvSpPr>
        <p:spPr>
          <a:xfrm>
            <a:off x="704850" y="6286500"/>
            <a:ext cx="10763250" cy="323850"/>
          </a:xfrm>
          <a:prstGeom prst="rect">
            <a:avLst/>
          </a:prstGeom>
          <a:noFill/>
          <a:ln w="0">
            <a:noFill/>
            <a:prstDash val="solid"/>
          </a:ln>
        </p:spPr>
        <p:txBody>
          <a:bodyPr/>
          <a:lstStyle/>
          <a:p>
            <a:pPr algn="ctr">
              <a:defRPr sz="1200" b="0">
                <a:solidFill>
                  <a:srgbClr val="333333"/>
                </a:solidFill>
              </a:defRPr>
            </a:pPr>
            <a:r>
              <a:rPr sz="1200" b="0">
                <a:solidFill>
                  <a:srgbClr val="333333"/>
                </a:solidFill>
              </a:rPr>
              <a:t>Interpretation: these examples are valid outputs, but low Diff F1 usually comes from scope/operation mismatch rather than invalid STEP export.</a:t>
            </a:r>
          </a:p>
        </p:txBody>
      </p:sp>
    </p:spTree>
    <p:extLst>
      <p:ext uri="{BB962C8B-B14F-4D97-AF65-F5344CB8AC3E}">
        <p14:creationId xmlns:p14="http://schemas.microsoft.com/office/powerpoint/2010/main" val="847180851"/>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ustom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867</Words>
  <Application>Microsoft Office PowerPoint</Application>
  <DocSecurity>0</DocSecurity>
  <PresentationFormat>Widescreen</PresentationFormat>
  <Paragraphs>119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Motivation:</vt:lpstr>
      <vt:lpstr>Grounded CAD: Harness Architecture</vt:lpstr>
      <vt:lpstr>Grounded CAD: What changed during development</vt:lpstr>
      <vt:lpstr>Grounded CAD: Results</vt:lpstr>
      <vt:lpstr>Grounded CAD: Cost Efficiency &amp; Scalability</vt:lpstr>
      <vt:lpstr>Grounded CAD: Visual evidence and examples</vt:lpstr>
      <vt:lpstr>Ablation Study: What Actually Improved Diff F1</vt:lpstr>
      <vt:lpstr>Limitations, Observations, and Next Steps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Lenin Goud</cp:lastModifiedBy>
  <cp:revision>1</cp:revision>
  <dcterms:created xsi:type="dcterms:W3CDTF">2026-08-20T00:20:36Z</dcterms:created>
  <dcterms:modified xsi:type="dcterms:W3CDTF">2026-08-20T00:43:59Z</dcterms:modified>
</cp:coreProperties>
</file>